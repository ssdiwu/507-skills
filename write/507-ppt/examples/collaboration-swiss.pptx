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svg" ContentType="image/svg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3ce0724633d407d" /><Relationship Type="http://schemas.openxmlformats.org/package/2006/relationships/metadata/core-properties" Target="/docProps/core.xml" Id="Rea3631344e1b4bb4" /><Relationship Type="http://schemas.openxmlformats.org/officeDocument/2006/relationships/extended-properties" Target="/docProps/app.xml" Id="R3c728f695f514238" /><Relationship Type="http://schemas.openxmlformats.org/officeDocument/2006/relationships/custom-properties" Target="/docProps/custom.xml" Id="Rac45a514bfc04317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e22a7fbefea04f85"/>
  </p:notesMasterIdLst>
  <p:sldIdLst>
    <p:sldId id="256" r:id="Rc4f480b255c247a9"/>
    <p:sldId id="257" r:id="Rebd67e0c5e8d4798"/>
    <p:sldId id="258" r:id="R47bddeb985ee48c1"/>
    <p:sldId id="259" r:id="R55d1a6c6e7bb48cc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c4f480b255c247a9" /><Relationship Type="http://schemas.openxmlformats.org/officeDocument/2006/relationships/slide" Target="/ppt/slides/slide2.xml" Id="Rebd67e0c5e8d4798" /><Relationship Type="http://schemas.openxmlformats.org/officeDocument/2006/relationships/slide" Target="/ppt/slides/slide3.xml" Id="R47bddeb985ee48c1" /><Relationship Type="http://schemas.openxmlformats.org/officeDocument/2006/relationships/slide" Target="/ppt/slides/slide4.xml" Id="R55d1a6c6e7bb48cc" /><Relationship Type="http://schemas.openxmlformats.org/officeDocument/2006/relationships/notesMaster" Target="/ppt/notesMasters/notesMaster1.xml" Id="Re22a7fbefea04f8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e295f5bc0b7450b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d45e3e02714808" /><Relationship Type="http://schemas.openxmlformats.org/officeDocument/2006/relationships/slide" Target="/ppt/slides/slide1.xml" Id="R05030117ae0046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b9833bbd0de4501" /><Relationship Type="http://schemas.openxmlformats.org/officeDocument/2006/relationships/slide" Target="/ppt/slides/slide2.xml" Id="R3c46e221152247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eb1927a2326466f" /><Relationship Type="http://schemas.openxmlformats.org/officeDocument/2006/relationships/slide" Target="/ppt/slides/slide3.xml" Id="Rafcef46c03a549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ef1bcd44d0f14d99" /><Relationship Type="http://schemas.openxmlformats.org/officeDocument/2006/relationships/slide" Target="/ppt/slides/slide4.xml" Id="Rc9d3e47928e047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先说明今天不讲工具清单，而是讲如何让第一版变成可继续协作的对象。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强调执行环境不是聊天框的装饰，而是让结果能被检查和继续修改的地方。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让听众把意图、责任、验收与 AI 的生成执行分开。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zh-CN"/>
              <a:t>用这句收束：第一版的价值是形成可评审对象，而不是跳过人的判断。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25926440d54d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eaaaf40c949b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6269169eda410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ace9cbb72b4f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c74b73337547ab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9fe9bdb4e7c44d7f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ee22aa5a9493a" /><Relationship Type="http://schemas.openxmlformats.org/officeDocument/2006/relationships/notesSlide" Target="/ppt/notesSlides/notesSlide1.xml" Id="R347c797726e447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05d6ebac70447b" /><Relationship Type="http://schemas.openxmlformats.org/officeDocument/2006/relationships/image" Target="/ppt/media/image.svg" Id="Rcba9f3c7961a4eb6" /><Relationship Type="http://schemas.openxmlformats.org/officeDocument/2006/relationships/image" Target="/ppt/media/image.png" Id="Rc02fc022c374489e" /><Relationship Type="http://schemas.openxmlformats.org/officeDocument/2006/relationships/notesSlide" Target="/ppt/notesSlides/notesSlide2.xml" Id="Rdc5be9b9dfad40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d8b9d9f86c40b1" /><Relationship Type="http://schemas.openxmlformats.org/officeDocument/2006/relationships/notesSlide" Target="/ppt/notesSlides/notesSlide3.xml" Id="R931ba0a64e2949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c87f9d5fac4acd" /><Relationship Type="http://schemas.openxmlformats.org/officeDocument/2006/relationships/notesSlide" Target="/ppt/notesSlides/notesSlide4.xml" Id="Rde7677a9572a49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360000" y="180000"/>
            <a:ext cx="576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01 / 04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360000" y="1440000"/>
            <a:ext cx="4680000" cy="54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002FA7"/>
                </a:solidFill>
                <a:latin typeface="Menlo"/>
                <a:ea typeface="Menlo"/>
              </a:rPr>
              <a:t>关于协作，先说一件最重要的事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360000" y="1872000"/>
            <a:ext cx="8280000" cy="97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111111"/>
                </a:solidFill>
                <a:latin typeface="Helvetica"/>
                <a:ea typeface="PingFang SC"/>
              </a:rPr>
              <a:t>从会用到会协作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360000" y="2880000"/>
            <a:ext cx="6480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300">
                <a:solidFill>
                  <a:srgbClr val="111111"/>
                </a:solidFill>
                <a:latin typeface="Helvetica"/>
                <a:ea typeface="PingFang SC"/>
              </a:rPr>
              <a:t>让 AI 帮你把想法做出来</a:t>
            </a:r>
          </a:p>
        </p:txBody>
      </p:sp>
      <p:sp>
        <p:nvSpPr>
          <p:cNvPr id="100005" name="TextBox 6"/>
          <p:cNvSpPr txBox="1"/>
          <p:nvPr/>
        </p:nvSpPr>
        <p:spPr>
          <a:xfrm xmlns:a="http://schemas.openxmlformats.org/drawingml/2006/main">
            <a:off x="360000" y="5112000"/>
            <a:ext cx="432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111111"/>
                </a:solidFill>
                <a:latin typeface="Menlo"/>
                <a:ea typeface="Menlo"/>
              </a:rPr>
              <a:t>20 分钟 · 公开示例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06" name="TextBox 1"/>
          <p:cNvSpPr txBox="1"/>
          <p:nvPr/>
        </p:nvSpPr>
        <p:spPr>
          <a:xfrm xmlns:a="http://schemas.openxmlformats.org/drawingml/2006/main">
            <a:off x="360000" y="180000"/>
            <a:ext cx="576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07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02 / 04</a:t>
            </a:r>
          </a:p>
        </p:txBody>
      </p:sp>
      <p:sp>
        <p:nvSpPr>
          <p:cNvPr id="100008" name="TextBox 3"/>
          <p:cNvSpPr txBox="1"/>
          <p:nvPr/>
        </p:nvSpPr>
        <p:spPr>
          <a:xfrm xmlns:a="http://schemas.openxmlformats.org/drawingml/2006/main">
            <a:off x="360000" y="1080000"/>
            <a:ext cx="3600000" cy="46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>
                <a:solidFill>
                  <a:srgbClr val="002FA7"/>
                </a:solidFill>
                <a:latin typeface="Menlo"/>
                <a:ea typeface="Menlo"/>
              </a:rPr>
              <a:t>执行环境</a:t>
            </a:r>
          </a:p>
        </p:txBody>
      </p:sp>
      <p:sp>
        <p:nvSpPr>
          <p:cNvPr id="100009" name="TextBox 4"/>
          <p:cNvSpPr txBox="1"/>
          <p:nvPr/>
        </p:nvSpPr>
        <p:spPr>
          <a:xfrm xmlns:a="http://schemas.openxmlformats.org/drawingml/2006/main">
            <a:off x="360000" y="1440000"/>
            <a:ext cx="432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11111"/>
                </a:solidFill>
                <a:latin typeface="Helvetica"/>
                <a:ea typeface="PingFang SC"/>
              </a:rPr>
              <a:t>能动手的地方</a:t>
            </a:r>
          </a:p>
        </p:txBody>
      </p:sp>
      <p:sp>
        <p:nvSpPr>
          <p:cNvPr id="100010" name="TextBox 5"/>
          <p:cNvSpPr txBox="1"/>
          <p:nvPr/>
        </p:nvSpPr>
        <p:spPr>
          <a:xfrm xmlns:a="http://schemas.openxmlformats.org/drawingml/2006/main">
            <a:off x="360000" y="2160000"/>
            <a:ext cx="4320000" cy="111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000">
                <a:solidFill>
                  <a:srgbClr val="111111"/>
                </a:solidFill>
                <a:latin typeface="Helvetica"/>
                <a:ea typeface="PingFang SC"/>
              </a:rPr>
              <a:t>能看见项目、改动文件、运行结果并回看反馈，AI 才能从顾问进入施工现场。</a:t>
            </a:r>
          </a:p>
        </p:txBody>
      </p:sp>
      <p:pic>
        <p:nvPicPr>
          <p:cNvPr id="100011" name="Picture 1" descr="包含文件、编辑器和预览区域的抽象工作台示意图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2fc022c374489e">
            <a:extLst>
              <a:ext uri="{96DAC541-7B7A-43D3-8B79-37D633B846F1}">
                <asvg:svgBlip xmlns:asvg="http://schemas.microsoft.com/office/drawing/2016/SVG/main" r:embed="Rcba9f3c7961a4eb6"/>
              </a:ext>
            </a:extLst>
          </a:blip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5472000" y="1440000"/>
            <a:ext cx="4140000" cy="2160000"/>
          </a:xfrm>
          <a:prstGeom xmlns:a="http://schemas.openxmlformats.org/drawingml/2006/main" prst="rect">
            <a:avLst/>
          </a:prstGeom>
        </p:spPr>
      </p:pic>
      <p:sp>
        <p:nvSpPr>
          <p:cNvPr id="100012" name="TextBox 6"/>
          <p:cNvSpPr txBox="1"/>
          <p:nvPr/>
        </p:nvSpPr>
        <p:spPr>
          <a:xfrm xmlns:a="http://schemas.openxmlformats.org/drawingml/2006/main">
            <a:off x="5472000" y="3708000"/>
            <a:ext cx="414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000">
                <a:solidFill>
                  <a:srgbClr val="111111"/>
                </a:solidFill>
                <a:latin typeface="Menlo"/>
                <a:ea typeface="Menlo"/>
              </a:rPr>
              <a:t>文件 / 编辑 / 预览同处一屏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360000" y="180000"/>
            <a:ext cx="576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03 / 04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360000" y="900000"/>
            <a:ext cx="864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400" b="1">
                <a:solidFill>
                  <a:srgbClr val="111111"/>
                </a:solidFill>
                <a:latin typeface="Helvetica"/>
                <a:ea typeface="PingFang SC"/>
              </a:rPr>
              <a:t>三件 AI 不能替你拥有的事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360000" y="1872000"/>
            <a:ext cx="2688001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002FA7"/>
                </a:solidFill>
                <a:latin typeface="Helvetica"/>
                <a:ea typeface="PingFang SC"/>
              </a:rPr>
              <a:t>意图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360000" y="2628000"/>
            <a:ext cx="2688001" cy="11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111111"/>
                </a:solidFill>
                <a:latin typeface="Helvetica"/>
                <a:ea typeface="PingFang SC"/>
              </a:rPr>
              <a:t>你希望这次成果服务谁、解决什么。</a:t>
            </a:r>
          </a:p>
        </p:txBody>
      </p:sp>
      <p:sp>
        <p:nvSpPr>
          <p:cNvPr id="100018" name="TextBox 6"/>
          <p:cNvSpPr txBox="1"/>
          <p:nvPr/>
        </p:nvSpPr>
        <p:spPr>
          <a:xfrm xmlns:a="http://schemas.openxmlformats.org/drawingml/2006/main">
            <a:off x="3336001" y="1872000"/>
            <a:ext cx="2688001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002FA7"/>
                </a:solidFill>
                <a:latin typeface="Helvetica"/>
                <a:ea typeface="PingFang SC"/>
              </a:rPr>
              <a:t>责任</a:t>
            </a:r>
          </a:p>
        </p:txBody>
      </p:sp>
      <p:sp>
        <p:nvSpPr>
          <p:cNvPr id="100019" name="TextBox 7"/>
          <p:cNvSpPr txBox="1"/>
          <p:nvPr/>
        </p:nvSpPr>
        <p:spPr>
          <a:xfrm xmlns:a="http://schemas.openxmlformats.org/drawingml/2006/main">
            <a:off x="3336001" y="2628000"/>
            <a:ext cx="2688001" cy="11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111111"/>
                </a:solidFill>
                <a:latin typeface="Helvetica"/>
                <a:ea typeface="PingFang SC"/>
              </a:rPr>
              <a:t>哪些边界不能越过、谁负责拍板。</a:t>
            </a:r>
          </a:p>
        </p:txBody>
      </p:sp>
      <p:sp>
        <p:nvSpPr>
          <p:cNvPr id="100020" name="TextBox 8"/>
          <p:cNvSpPr txBox="1"/>
          <p:nvPr/>
        </p:nvSpPr>
        <p:spPr>
          <a:xfrm xmlns:a="http://schemas.openxmlformats.org/drawingml/2006/main">
            <a:off x="6311988" y="1872000"/>
            <a:ext cx="2688001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600" b="1">
                <a:solidFill>
                  <a:srgbClr val="002FA7"/>
                </a:solidFill>
                <a:latin typeface="Helvetica"/>
                <a:ea typeface="PingFang SC"/>
              </a:rPr>
              <a:t>验收</a:t>
            </a:r>
          </a:p>
        </p:txBody>
      </p:sp>
      <p:sp>
        <p:nvSpPr>
          <p:cNvPr id="100021" name="TextBox 9"/>
          <p:cNvSpPr txBox="1"/>
          <p:nvPr/>
        </p:nvSpPr>
        <p:spPr>
          <a:xfrm xmlns:a="http://schemas.openxmlformats.org/drawingml/2006/main">
            <a:off x="6311988" y="2628000"/>
            <a:ext cx="2688001" cy="11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>
                <a:solidFill>
                  <a:srgbClr val="111111"/>
                </a:solidFill>
                <a:latin typeface="Helvetica"/>
                <a:ea typeface="PingFang SC"/>
              </a:rPr>
              <a:t>什么结果才算真的能交付。</a:t>
            </a:r>
          </a:p>
        </p:txBody>
      </p:sp>
      <p:sp>
        <p:nvSpPr>
          <p:cNvPr id="100022" name="TextBox 10"/>
          <p:cNvSpPr txBox="1"/>
          <p:nvPr/>
        </p:nvSpPr>
        <p:spPr>
          <a:xfrm xmlns:a="http://schemas.openxmlformats.org/drawingml/2006/main">
            <a:off x="360000" y="4788000"/>
            <a:ext cx="8640000" cy="50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11111"/>
                </a:solidFill>
                <a:latin typeface="Helvetica"/>
                <a:ea typeface="PingFang SC"/>
              </a:rPr>
              <a:t>AI 负责生成、尝试、执行；人负责方向、边界与完成。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11111"/>
        </a:solidFill>
      </p:bgPr>
    </p:bg>
    <p:spTree>
      <p:nvGrpSpPr>
        <p:cNvPr id="1" name=""/>
        <p:cNvGrpSpPr/>
        <p:nvPr/>
      </p:nvGrpSpPr>
      <p:grpSpPr/>
      <p:sp>
        <p:nvSpPr>
          <p:cNvPr id="100023" name="TextBox 1"/>
          <p:cNvSpPr txBox="1"/>
          <p:nvPr/>
        </p:nvSpPr>
        <p:spPr>
          <a:xfrm xmlns:a="http://schemas.openxmlformats.org/drawingml/2006/main">
            <a:off x="360000" y="180000"/>
            <a:ext cx="5760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从会用到会协作</a:t>
            </a:r>
          </a:p>
        </p:txBody>
      </p:sp>
      <p:sp>
        <p:nvSpPr>
          <p:cNvPr id="100024" name="TextBox 2"/>
          <p:cNvSpPr txBox="1"/>
          <p:nvPr/>
        </p:nvSpPr>
        <p:spPr>
          <a:xfrm xmlns:a="http://schemas.openxmlformats.org/drawingml/2006/main">
            <a:off x="8712000" y="180000"/>
            <a:ext cx="1152000" cy="41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900">
                <a:solidFill>
                  <a:srgbClr val="111111"/>
                </a:solidFill>
                <a:latin typeface="Menlo"/>
                <a:ea typeface="Menlo"/>
              </a:rPr>
              <a:t>04 / 04</a:t>
            </a:r>
          </a:p>
        </p:txBody>
      </p:sp>
      <p:sp>
        <p:nvSpPr>
          <p:cNvPr id="100025" name="TextBox 3"/>
          <p:cNvSpPr txBox="1"/>
          <p:nvPr/>
        </p:nvSpPr>
        <p:spPr>
          <a:xfrm xmlns:a="http://schemas.openxmlformats.org/drawingml/2006/main">
            <a:off x="360000" y="360000"/>
            <a:ext cx="1080000" cy="13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8000">
                <a:solidFill>
                  <a:srgbClr val="002FA7"/>
                </a:solidFill>
                <a:latin typeface="Helvetica"/>
                <a:ea typeface="PingFang SC"/>
              </a:rPr>
              <a:t>“</a:t>
            </a:r>
          </a:p>
        </p:txBody>
      </p:sp>
      <p:sp>
        <p:nvSpPr>
          <p:cNvPr id="100026" name="TextBox 4"/>
          <p:cNvSpPr txBox="1"/>
          <p:nvPr/>
        </p:nvSpPr>
        <p:spPr>
          <a:xfrm xmlns:a="http://schemas.openxmlformats.org/drawingml/2006/main">
            <a:off x="1080000" y="2160000"/>
            <a:ext cx="7920000" cy="15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800" b="1">
                <a:solidFill>
                  <a:srgbClr val="F7F7F2"/>
                </a:solidFill>
                <a:latin typeface="Helvetica"/>
                <a:ea typeface="PingFang SC"/>
              </a:rPr>
              <a:t>它的第一版，是给你改的，不是给你用的。</a:t>
            </a:r>
          </a:p>
        </p:txBody>
      </p:sp>
      <p:sp>
        <p:nvSpPr>
          <p:cNvPr id="100027" name="TextBox 5"/>
          <p:cNvSpPr txBox="1"/>
          <p:nvPr/>
        </p:nvSpPr>
        <p:spPr>
          <a:xfrm xmlns:a="http://schemas.openxmlformats.org/drawingml/2006/main">
            <a:off x="1080000" y="4320000"/>
            <a:ext cx="432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002FA7"/>
                </a:solidFill>
                <a:latin typeface="Helvetica"/>
                <a:ea typeface="PingFang SC"/>
              </a:rPr>
              <a:t>关于协作 · 第一节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等线"/>
        <a:cs typeface=""/>
      </a:majorFont>
      <a:minorFont>
        <a:latin typeface="Calibri"/>
        <a:ea typeface="等线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2026-08-05T18:01:23Z</dcterms:created>
  <cp:lastModifiedBy>OfficeCLI</cp:lastModifiedBy>
  <dcterms:modified xsi:type="dcterms:W3CDTF">2026-08-05T18:01:23Z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2026-08-05T18:01:29Z</vt:lpwstr>
  </op:property>
</op:Properties>
</file>