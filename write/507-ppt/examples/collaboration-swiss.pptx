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Default Extension="svg" ContentType="image/svg+xml"/>
  <Default Extension="png" ContentType="image/png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754078be86b04870" /><Relationship Type="http://schemas.openxmlformats.org/package/2006/relationships/metadata/core-properties" Target="/docProps/core.xml" Id="R3f14002d06744bae" /><Relationship Type="http://schemas.openxmlformats.org/officeDocument/2006/relationships/extended-properties" Target="/docProps/app.xml" Id="Rbd57fa75839e4878" /><Relationship Type="http://schemas.openxmlformats.org/officeDocument/2006/relationships/custom-properties" Target="/docProps/custom.xml" Id="Rbc1329a454e04a77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sldIdLst>
    <p:sldId id="256" r:id="R30c467c063374d28"/>
    <p:sldId id="257" r:id="Rb4a1ea75ddbe4be3"/>
    <p:sldId id="258" r:id="Rb37af36cd6b94bf8"/>
    <p:sldId id="259" r:id="R66ee176babce4224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30c467c063374d28" /><Relationship Type="http://schemas.openxmlformats.org/officeDocument/2006/relationships/slide" Target="/ppt/slides/slide2.xml" Id="Rb4a1ea75ddbe4be3" /><Relationship Type="http://schemas.openxmlformats.org/officeDocument/2006/relationships/slide" Target="/ppt/slides/slide3.xml" Id="Rb37af36cd6b94bf8" /><Relationship Type="http://schemas.openxmlformats.org/officeDocument/2006/relationships/slide" Target="/ppt/slides/slide4.xml" Id="R66ee176babce422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zh-CN"/>
              <a:t>先说明今天不讲工具清单，而是讲如何让第一版变成可继续协作的对象。</a:t>
            </a:r>
          </a:p>
        </p:txBody>
      </p:sp>
    </p:spTree>
  </p:cSld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zh-CN"/>
              <a:t>强调执行环境不是聊天框的装饰，而是让结果能被检查和继续修改的地方。</a:t>
            </a:r>
          </a:p>
        </p:txBody>
      </p:sp>
    </p:spTree>
  </p:cSld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zh-CN"/>
              <a:t>让听众把意图、责任、验收与 AI 的生成执行分开。</a:t>
            </a:r>
          </a:p>
        </p:txBody>
      </p:sp>
    </p:spTree>
  </p:cSld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zh-CN"/>
              <a:t>用这句收束：第一版的价值是形成可评审对象，而不是跳过人的判断。</a:t>
            </a:r>
          </a:p>
        </p:txBody>
      </p:sp>
    </p:spTree>
  </p:cSld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698b0dfb461498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ce6d9307f241a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17c502fee8f447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be20f4de23f4a2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0246eaad1a14af8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485c89c7a240471d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c62b74b6a143ef" /><Relationship Type="http://schemas.openxmlformats.org/officeDocument/2006/relationships/notesSlide" Target="/ppt/notesSlides/notesSlide1.xml" Id="Rf5653b0ccf94411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0710eef2b44892" /><Relationship Type="http://schemas.openxmlformats.org/officeDocument/2006/relationships/image" Target="/ppt/media/image.svg" Id="R1dc86252417f4f5c" /><Relationship Type="http://schemas.openxmlformats.org/officeDocument/2006/relationships/image" Target="/ppt/media/image.png" Id="R189761c6c2294896" /><Relationship Type="http://schemas.openxmlformats.org/officeDocument/2006/relationships/notesSlide" Target="/ppt/notesSlides/notesSlide2.xml" Id="R4ff63d40d3594f9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e12b03e6e74f38" /><Relationship Type="http://schemas.openxmlformats.org/officeDocument/2006/relationships/notesSlide" Target="/ppt/notesSlides/notesSlide3.xml" Id="R091afc309813419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f49474fb7d4523" /><Relationship Type="http://schemas.openxmlformats.org/officeDocument/2006/relationships/notesSlide" Target="/ppt/notesSlides/notesSlide4.xml" Id="Rba8ba468cee047b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/>
      <p:sp>
        <p:nvSpPr>
          <p:cNvPr id="100000" name="TextBox 1"/>
          <p:cNvSpPr txBox="1"/>
          <p:nvPr/>
        </p:nvSpPr>
        <p:spPr>
          <a:xfrm xmlns:a="http://schemas.openxmlformats.org/drawingml/2006/main">
            <a:off x="360000" y="180000"/>
            <a:ext cx="2880000" cy="41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900">
                <a:solidFill>
                  <a:srgbClr val="111111"/>
                </a:solidFill>
                <a:latin typeface="Menlo"/>
                <a:ea typeface="Menlo"/>
              </a:rPr>
              <a:t>《协作练习》 · 第一节</a:t>
            </a:r>
          </a:p>
        </p:txBody>
      </p:sp>
      <p:sp>
        <p:nvSpPr>
          <p:cNvPr id="100001" name="TextBox 2"/>
          <p:cNvSpPr txBox="1"/>
          <p:nvPr/>
        </p:nvSpPr>
        <p:spPr>
          <a:xfrm xmlns:a="http://schemas.openxmlformats.org/drawingml/2006/main">
            <a:off x="8712000" y="180000"/>
            <a:ext cx="1152000" cy="41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900">
                <a:solidFill>
                  <a:srgbClr val="111111"/>
                </a:solidFill>
                <a:latin typeface="Menlo"/>
                <a:ea typeface="Menlo"/>
              </a:rPr>
              <a:t>01 / 04</a:t>
            </a:r>
          </a:p>
        </p:txBody>
      </p:sp>
      <p:sp>
        <p:nvSpPr>
          <p:cNvPr id="100002" name="TextBox 3"/>
          <p:cNvSpPr txBox="1"/>
          <p:nvPr/>
        </p:nvSpPr>
        <p:spPr>
          <a:xfrm xmlns:a="http://schemas.openxmlformats.org/drawingml/2006/main">
            <a:off x="360000" y="1440000"/>
            <a:ext cx="4680000" cy="5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>
                <a:solidFill>
                  <a:srgbClr val="002FA7"/>
                </a:solidFill>
                <a:latin typeface="Helvetica"/>
                <a:ea typeface="PingFang SC"/>
              </a:rPr>
              <a:t>关于协作，先说一件最重要的事</a:t>
            </a:r>
          </a:p>
        </p:txBody>
      </p:sp>
      <p:sp>
        <p:nvSpPr>
          <p:cNvPr id="100003" name="TextBox 4"/>
          <p:cNvSpPr txBox="1"/>
          <p:nvPr/>
        </p:nvSpPr>
        <p:spPr>
          <a:xfrm xmlns:a="http://schemas.openxmlformats.org/drawingml/2006/main">
            <a:off x="360000" y="1872000"/>
            <a:ext cx="8280000" cy="97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800" b="1">
                <a:solidFill>
                  <a:srgbClr val="111111"/>
                </a:solidFill>
                <a:latin typeface="Helvetica"/>
                <a:ea typeface="PingFang SC"/>
              </a:rPr>
              <a:t>从会用到会协作</a:t>
            </a:r>
          </a:p>
        </p:txBody>
      </p:sp>
      <p:sp>
        <p:nvSpPr>
          <p:cNvPr id="100004" name="TextBox 5"/>
          <p:cNvSpPr txBox="1"/>
          <p:nvPr/>
        </p:nvSpPr>
        <p:spPr>
          <a:xfrm xmlns:a="http://schemas.openxmlformats.org/drawingml/2006/main">
            <a:off x="360000" y="2880000"/>
            <a:ext cx="6480000" cy="57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300">
                <a:solidFill>
                  <a:srgbClr val="111111"/>
                </a:solidFill>
                <a:latin typeface="Helvetica"/>
                <a:ea typeface="PingFang SC"/>
              </a:rPr>
              <a:t>让 AI 帮你把想法做出来</a:t>
            </a:r>
          </a:p>
        </p:txBody>
      </p:sp>
      <p:sp>
        <p:nvSpPr>
          <p:cNvPr id="100005" name="TextBox 6"/>
          <p:cNvSpPr txBox="1"/>
          <p:nvPr/>
        </p:nvSpPr>
        <p:spPr>
          <a:xfrm xmlns:a="http://schemas.openxmlformats.org/drawingml/2006/main">
            <a:off x="360000" y="5112000"/>
            <a:ext cx="2880000" cy="41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000">
                <a:solidFill>
                  <a:srgbClr val="111111"/>
                </a:solidFill>
                <a:latin typeface="Menlo"/>
                <a:ea typeface="Menlo"/>
              </a:rPr>
              <a:t>20 分钟 · 公开示例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/>
      <p:sp>
        <p:nvSpPr>
          <p:cNvPr id="100006" name="TextBox 1"/>
          <p:cNvSpPr txBox="1"/>
          <p:nvPr/>
        </p:nvSpPr>
        <p:spPr>
          <a:xfrm xmlns:a="http://schemas.openxmlformats.org/drawingml/2006/main">
            <a:off x="360000" y="180000"/>
            <a:ext cx="2880000" cy="41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900">
                <a:solidFill>
                  <a:srgbClr val="111111"/>
                </a:solidFill>
                <a:latin typeface="Menlo"/>
                <a:ea typeface="Menlo"/>
              </a:rPr>
              <a:t>《协作练习》 · 第一节</a:t>
            </a:r>
          </a:p>
        </p:txBody>
      </p:sp>
      <p:sp>
        <p:nvSpPr>
          <p:cNvPr id="100007" name="TextBox 2"/>
          <p:cNvSpPr txBox="1"/>
          <p:nvPr/>
        </p:nvSpPr>
        <p:spPr>
          <a:xfrm xmlns:a="http://schemas.openxmlformats.org/drawingml/2006/main">
            <a:off x="8712000" y="180000"/>
            <a:ext cx="1152000" cy="41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900">
                <a:solidFill>
                  <a:srgbClr val="111111"/>
                </a:solidFill>
                <a:latin typeface="Menlo"/>
                <a:ea typeface="Menlo"/>
              </a:rPr>
              <a:t>02 / 04</a:t>
            </a:r>
          </a:p>
        </p:txBody>
      </p:sp>
      <p:sp>
        <p:nvSpPr>
          <p:cNvPr id="100008" name="TextBox 3"/>
          <p:cNvSpPr txBox="1"/>
          <p:nvPr/>
        </p:nvSpPr>
        <p:spPr>
          <a:xfrm xmlns:a="http://schemas.openxmlformats.org/drawingml/2006/main">
            <a:off x="360000" y="1080000"/>
            <a:ext cx="2160000" cy="46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00">
                <a:solidFill>
                  <a:srgbClr val="002FA7"/>
                </a:solidFill>
                <a:latin typeface="Helvetica"/>
                <a:ea typeface="PingFang SC"/>
              </a:rPr>
              <a:t>执行环境</a:t>
            </a:r>
          </a:p>
        </p:txBody>
      </p:sp>
      <p:sp>
        <p:nvSpPr>
          <p:cNvPr id="100009" name="TextBox 4"/>
          <p:cNvSpPr txBox="1"/>
          <p:nvPr/>
        </p:nvSpPr>
        <p:spPr>
          <a:xfrm xmlns:a="http://schemas.openxmlformats.org/drawingml/2006/main">
            <a:off x="360000" y="1440000"/>
            <a:ext cx="4320000" cy="7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400" b="1">
                <a:solidFill>
                  <a:srgbClr val="111111"/>
                </a:solidFill>
                <a:latin typeface="Helvetica"/>
                <a:ea typeface="PingFang SC"/>
              </a:rPr>
              <a:t>能动手的地方</a:t>
            </a:r>
          </a:p>
        </p:txBody>
      </p:sp>
      <p:sp>
        <p:nvSpPr>
          <p:cNvPr id="100010" name="TextBox 5"/>
          <p:cNvSpPr txBox="1"/>
          <p:nvPr/>
        </p:nvSpPr>
        <p:spPr>
          <a:xfrm xmlns:a="http://schemas.openxmlformats.org/drawingml/2006/main">
            <a:off x="360000" y="2160000"/>
            <a:ext cx="4320000" cy="111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000">
                <a:solidFill>
                  <a:srgbClr val="111111"/>
                </a:solidFill>
                <a:latin typeface="Helvetica"/>
                <a:ea typeface="PingFang SC"/>
              </a:rPr>
              <a:t>能看见项目、改动文件、运行结果并回看反馈，AI 才能从顾问进入施工现场。</a:t>
            </a:r>
          </a:p>
        </p:txBody>
      </p:sp>
      <p:pic>
        <p:nvPicPr>
          <p:cNvPr id="100011" name="Picture 1" descr="包含文件、编辑器和预览区域的抽象工作台示意图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9761c6c2294896">
            <a:extLst>
              <a:ext uri="{96DAC541-7B7A-43D3-8B79-37D633B846F1}">
                <asvg:svgBlip xmlns:asvg="http://schemas.microsoft.com/office/drawing/2016/SVG/main" r:embed="R1dc86252417f4f5c"/>
              </a:ext>
            </a:extLst>
          </a:blip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5472000" y="1440000"/>
            <a:ext cx="4140000" cy="2160000"/>
          </a:xfrm>
          <a:prstGeom xmlns:a="http://schemas.openxmlformats.org/drawingml/2006/main" prst="rect">
            <a:avLst/>
          </a:prstGeom>
        </p:spPr>
      </p:pic>
      <p:sp>
        <p:nvSpPr>
          <p:cNvPr id="100012" name="TextBox 6"/>
          <p:cNvSpPr txBox="1"/>
          <p:nvPr/>
        </p:nvSpPr>
        <p:spPr>
          <a:xfrm xmlns:a="http://schemas.openxmlformats.org/drawingml/2006/main">
            <a:off x="5472000" y="3708000"/>
            <a:ext cx="4140000" cy="41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000">
                <a:solidFill>
                  <a:srgbClr val="111111"/>
                </a:solidFill>
                <a:latin typeface="Menlo"/>
                <a:ea typeface="Menlo"/>
              </a:rPr>
              <a:t>文件 / 编辑 / 预览同处一屏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/>
      <p:sp>
        <p:nvSpPr>
          <p:cNvPr id="100013" name="TextBox 1"/>
          <p:cNvSpPr txBox="1"/>
          <p:nvPr/>
        </p:nvSpPr>
        <p:spPr>
          <a:xfrm xmlns:a="http://schemas.openxmlformats.org/drawingml/2006/main">
            <a:off x="360000" y="180000"/>
            <a:ext cx="2880000" cy="41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900">
                <a:solidFill>
                  <a:srgbClr val="111111"/>
                </a:solidFill>
                <a:latin typeface="Menlo"/>
                <a:ea typeface="Menlo"/>
              </a:rPr>
              <a:t>《协作练习》 · 第一节</a:t>
            </a:r>
          </a:p>
        </p:txBody>
      </p:sp>
      <p:sp>
        <p:nvSpPr>
          <p:cNvPr id="100014" name="TextBox 2"/>
          <p:cNvSpPr txBox="1"/>
          <p:nvPr/>
        </p:nvSpPr>
        <p:spPr>
          <a:xfrm xmlns:a="http://schemas.openxmlformats.org/drawingml/2006/main">
            <a:off x="8712000" y="180000"/>
            <a:ext cx="1152000" cy="41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900">
                <a:solidFill>
                  <a:srgbClr val="111111"/>
                </a:solidFill>
                <a:latin typeface="Menlo"/>
                <a:ea typeface="Menlo"/>
              </a:rPr>
              <a:t>03 / 04</a:t>
            </a:r>
          </a:p>
        </p:txBody>
      </p:sp>
      <p:sp>
        <p:nvSpPr>
          <p:cNvPr id="100015" name="TextBox 3"/>
          <p:cNvSpPr txBox="1"/>
          <p:nvPr/>
        </p:nvSpPr>
        <p:spPr>
          <a:xfrm xmlns:a="http://schemas.openxmlformats.org/drawingml/2006/main">
            <a:off x="360000" y="900000"/>
            <a:ext cx="7560000" cy="7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400" b="1">
                <a:solidFill>
                  <a:srgbClr val="111111"/>
                </a:solidFill>
                <a:latin typeface="Helvetica"/>
                <a:ea typeface="PingFang SC"/>
              </a:rPr>
              <a:t>三件 AI 不能替你拥有的事</a:t>
            </a:r>
          </a:p>
        </p:txBody>
      </p:sp>
      <p:sp>
        <p:nvSpPr>
          <p:cNvPr id="100016" name="TextBox 4"/>
          <p:cNvSpPr txBox="1"/>
          <p:nvPr/>
        </p:nvSpPr>
        <p:spPr>
          <a:xfrm xmlns:a="http://schemas.openxmlformats.org/drawingml/2006/main">
            <a:off x="360000" y="1980000"/>
            <a:ext cx="2592000" cy="79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 b="1">
                <a:solidFill>
                  <a:srgbClr val="002FA7"/>
                </a:solidFill>
                <a:latin typeface="Helvetica"/>
                <a:ea typeface="PingFang SC"/>
              </a:rPr>
              <a:t>意图</a:t>
            </a:r>
          </a:p>
        </p:txBody>
      </p:sp>
      <p:sp>
        <p:nvSpPr>
          <p:cNvPr id="100017" name="TextBox 5"/>
          <p:cNvSpPr txBox="1"/>
          <p:nvPr/>
        </p:nvSpPr>
        <p:spPr>
          <a:xfrm xmlns:a="http://schemas.openxmlformats.org/drawingml/2006/main">
            <a:off x="360000" y="2808000"/>
            <a:ext cx="2592000" cy="104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111111"/>
                </a:solidFill>
                <a:latin typeface="Helvetica"/>
                <a:ea typeface="PingFang SC"/>
              </a:rPr>
              <a:t>你希望这次成果服务谁、解决什么。</a:t>
            </a:r>
          </a:p>
        </p:txBody>
      </p:sp>
      <p:sp>
        <p:nvSpPr>
          <p:cNvPr id="100018" name="TextBox 6"/>
          <p:cNvSpPr txBox="1"/>
          <p:nvPr/>
        </p:nvSpPr>
        <p:spPr>
          <a:xfrm xmlns:a="http://schemas.openxmlformats.org/drawingml/2006/main">
            <a:off x="3600000" y="1980000"/>
            <a:ext cx="2592000" cy="79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 b="1">
                <a:solidFill>
                  <a:srgbClr val="002FA7"/>
                </a:solidFill>
                <a:latin typeface="Helvetica"/>
                <a:ea typeface="PingFang SC"/>
              </a:rPr>
              <a:t>责任</a:t>
            </a:r>
          </a:p>
        </p:txBody>
      </p:sp>
      <p:sp>
        <p:nvSpPr>
          <p:cNvPr id="100019" name="TextBox 7"/>
          <p:cNvSpPr txBox="1"/>
          <p:nvPr/>
        </p:nvSpPr>
        <p:spPr>
          <a:xfrm xmlns:a="http://schemas.openxmlformats.org/drawingml/2006/main">
            <a:off x="3600000" y="2808000"/>
            <a:ext cx="2592000" cy="104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111111"/>
                </a:solidFill>
                <a:latin typeface="Helvetica"/>
                <a:ea typeface="PingFang SC"/>
              </a:rPr>
              <a:t>哪些边界不能越过、谁负责拍板。</a:t>
            </a:r>
          </a:p>
        </p:txBody>
      </p:sp>
      <p:sp>
        <p:nvSpPr>
          <p:cNvPr id="100020" name="TextBox 8"/>
          <p:cNvSpPr txBox="1"/>
          <p:nvPr/>
        </p:nvSpPr>
        <p:spPr>
          <a:xfrm xmlns:a="http://schemas.openxmlformats.org/drawingml/2006/main">
            <a:off x="6840000" y="1980000"/>
            <a:ext cx="2592000" cy="79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 b="1">
                <a:solidFill>
                  <a:srgbClr val="002FA7"/>
                </a:solidFill>
                <a:latin typeface="Helvetica"/>
                <a:ea typeface="PingFang SC"/>
              </a:rPr>
              <a:t>验收</a:t>
            </a:r>
          </a:p>
        </p:txBody>
      </p:sp>
      <p:sp>
        <p:nvSpPr>
          <p:cNvPr id="100021" name="TextBox 9"/>
          <p:cNvSpPr txBox="1"/>
          <p:nvPr/>
        </p:nvSpPr>
        <p:spPr>
          <a:xfrm xmlns:a="http://schemas.openxmlformats.org/drawingml/2006/main">
            <a:off x="6840000" y="2808000"/>
            <a:ext cx="2592000" cy="104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111111"/>
                </a:solidFill>
                <a:latin typeface="Helvetica"/>
                <a:ea typeface="PingFang SC"/>
              </a:rPr>
              <a:t>什么结果才算真的能交付。</a:t>
            </a:r>
          </a:p>
        </p:txBody>
      </p:sp>
      <p:sp>
        <p:nvSpPr>
          <p:cNvPr id="100022" name="TextBox 10"/>
          <p:cNvSpPr txBox="1"/>
          <p:nvPr/>
        </p:nvSpPr>
        <p:spPr>
          <a:xfrm xmlns:a="http://schemas.openxmlformats.org/drawingml/2006/main">
            <a:off x="360000" y="4788000"/>
            <a:ext cx="8640000" cy="50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111111"/>
                </a:solidFill>
                <a:latin typeface="Helvetica"/>
                <a:ea typeface="PingFang SC"/>
              </a:rPr>
              <a:t>AI 负责生成、尝试、执行；人负责方向、边界与完成。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11111"/>
        </a:solidFill>
      </p:bgPr>
    </p:bg>
    <p:spTree>
      <p:nvGrpSpPr>
        <p:cNvPr id="1" name=""/>
        <p:cNvGrpSpPr/>
        <p:nvPr/>
      </p:nvGrpSpPr>
      <p:grpSpPr/>
      <p:sp>
        <p:nvSpPr>
          <p:cNvPr id="100023" name="TextBox 1"/>
          <p:cNvSpPr txBox="1"/>
          <p:nvPr/>
        </p:nvSpPr>
        <p:spPr>
          <a:xfrm xmlns:a="http://schemas.openxmlformats.org/drawingml/2006/main">
            <a:off x="360000" y="360000"/>
            <a:ext cx="1080000" cy="115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8000">
                <a:solidFill>
                  <a:srgbClr val="002FA7"/>
                </a:solidFill>
                <a:latin typeface="Helvetica"/>
                <a:ea typeface="PingFang SC"/>
              </a:rPr>
              <a:t>“</a:t>
            </a:r>
          </a:p>
        </p:txBody>
      </p:sp>
      <p:sp>
        <p:nvSpPr>
          <p:cNvPr id="100024" name="TextBox 2"/>
          <p:cNvSpPr txBox="1"/>
          <p:nvPr/>
        </p:nvSpPr>
        <p:spPr>
          <a:xfrm xmlns:a="http://schemas.openxmlformats.org/drawingml/2006/main">
            <a:off x="1080000" y="2160000"/>
            <a:ext cx="7920000" cy="15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800" b="1">
                <a:solidFill>
                  <a:srgbClr val="F7F7F2"/>
                </a:solidFill>
                <a:latin typeface="Helvetica"/>
                <a:ea typeface="PingFang SC"/>
              </a:rPr>
              <a:t>它的第一版，是给你改的，不是给你用的。</a:t>
            </a:r>
          </a:p>
        </p:txBody>
      </p:sp>
      <p:sp>
        <p:nvSpPr>
          <p:cNvPr id="100025" name="TextBox 3"/>
          <p:cNvSpPr txBox="1"/>
          <p:nvPr/>
        </p:nvSpPr>
        <p:spPr>
          <a:xfrm xmlns:a="http://schemas.openxmlformats.org/drawingml/2006/main">
            <a:off x="1080000" y="4320000"/>
            <a:ext cx="2880000" cy="43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002FA7"/>
                </a:solidFill>
                <a:latin typeface="Helvetica"/>
                <a:ea typeface="PingFang SC"/>
              </a:rPr>
              <a:t>关于协作 · 第一节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OfficeCLI/1.0.139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2026-07-20T08:49:50Z</dcterms:created>
  <cp:lastModifiedBy>OfficeCLI</cp:lastModifiedBy>
  <dcterms:modified xsi:type="dcterms:W3CDTF">2026-07-20T08:49:50Z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1.0.139</vt:lpwstr>
  </op:property>
  <op:property fmtid="{D5CDD505-2E9C-101B-9397-08002B2CF9AE}" pid="3" name="OfficeCLI.LastModified">
    <vt:lpwstr xmlns:vt="http://schemas.openxmlformats.org/officeDocument/2006/docPropsVTypes">2026-07-20T08:51:23Z</vt:lpwstr>
  </op:property>
</op:Properties>
</file>