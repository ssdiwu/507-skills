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svg" ContentType="image/svg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da868095dd24547" /><Relationship Type="http://schemas.openxmlformats.org/package/2006/relationships/metadata/core-properties" Target="/docProps/core.xml" Id="Rfa68cb0250244925" /><Relationship Type="http://schemas.openxmlformats.org/officeDocument/2006/relationships/extended-properties" Target="/docProps/app.xml" Id="R5e5471c8730b4b56" /><Relationship Type="http://schemas.openxmlformats.org/officeDocument/2006/relationships/custom-properties" Target="/docProps/custom.xml" Id="Re16f239abd28476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e4163ec81134b3a"/>
  </p:notesMasterIdLst>
  <p:sldIdLst>
    <p:sldId id="256" r:id="R1f63e80f3a98473a"/>
    <p:sldId id="257" r:id="R3f3709c79b334282"/>
    <p:sldId id="258" r:id="Rc3cb57fe47f548fe"/>
    <p:sldId id="259" r:id="R3c2ae1ce93cb498a"/>
    <p:sldId id="260" r:id="R59765cce9df14535"/>
    <p:sldId id="261" r:id="R1683e5d47bd14576"/>
    <p:sldId id="262" r:id="R5a12d8fa7ac046a1"/>
    <p:sldId id="263" r:id="R89ed568575444a3f"/>
    <p:sldId id="264" r:id="Re1c3134686564691"/>
    <p:sldId id="265" r:id="R77a165fbee1843d4"/>
    <p:sldId id="266" r:id="R349b5c9ffef64841"/>
    <p:sldId id="267" r:id="R9e1f9e2bf1d94dcd"/>
    <p:sldId id="268" r:id="Rf53a93cb3afb4c9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f63e80f3a98473a" /><Relationship Type="http://schemas.openxmlformats.org/officeDocument/2006/relationships/slide" Target="/ppt/slides/slide2.xml" Id="R3f3709c79b334282" /><Relationship Type="http://schemas.openxmlformats.org/officeDocument/2006/relationships/slide" Target="/ppt/slides/slide3.xml" Id="Rc3cb57fe47f548fe" /><Relationship Type="http://schemas.openxmlformats.org/officeDocument/2006/relationships/slide" Target="/ppt/slides/slide4.xml" Id="R3c2ae1ce93cb498a" /><Relationship Type="http://schemas.openxmlformats.org/officeDocument/2006/relationships/slide" Target="/ppt/slides/slide5.xml" Id="R59765cce9df14535" /><Relationship Type="http://schemas.openxmlformats.org/officeDocument/2006/relationships/slide" Target="/ppt/slides/slide6.xml" Id="R1683e5d47bd14576" /><Relationship Type="http://schemas.openxmlformats.org/officeDocument/2006/relationships/slide" Target="/ppt/slides/slide7.xml" Id="R5a12d8fa7ac046a1" /><Relationship Type="http://schemas.openxmlformats.org/officeDocument/2006/relationships/slide" Target="/ppt/slides/slide8.xml" Id="R89ed568575444a3f" /><Relationship Type="http://schemas.openxmlformats.org/officeDocument/2006/relationships/slide" Target="/ppt/slides/slide9.xml" Id="Re1c3134686564691" /><Relationship Type="http://schemas.openxmlformats.org/officeDocument/2006/relationships/slide" Target="/ppt/slides/slide10.xml" Id="R77a165fbee1843d4" /><Relationship Type="http://schemas.openxmlformats.org/officeDocument/2006/relationships/slide" Target="/ppt/slides/slide11.xml" Id="R349b5c9ffef64841" /><Relationship Type="http://schemas.openxmlformats.org/officeDocument/2006/relationships/slide" Target="/ppt/slides/slide12.xml" Id="R9e1f9e2bf1d94dcd" /><Relationship Type="http://schemas.openxmlformats.org/officeDocument/2006/relationships/slide" Target="/ppt/slides/slide13.xml" Id="Rf53a93cb3afb4c9d" /><Relationship Type="http://schemas.openxmlformats.org/officeDocument/2006/relationships/notesMaster" Target="/ppt/notesMasters/notesMaster1.xml" Id="Ree4163ec81134b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3ea7a19fc0d474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0f90b0b9b43401d" /><Relationship Type="http://schemas.openxmlformats.org/officeDocument/2006/relationships/slide" Target="/ppt/slides/slide1.xml" Id="R8b34bc37205244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9e020a6c3204c7a" /><Relationship Type="http://schemas.openxmlformats.org/officeDocument/2006/relationships/slide" Target="/ppt/slides/slide2.xml" Id="Raaeb4b8104ef4f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20f73f156144b0a" /><Relationship Type="http://schemas.openxmlformats.org/officeDocument/2006/relationships/slide" Target="/ppt/slides/slide3.xml" Id="Ra7a0e53621cd45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df09d37c9a4178" /><Relationship Type="http://schemas.openxmlformats.org/officeDocument/2006/relationships/slide" Target="/ppt/slides/slide4.xml" Id="R7ae2272a579f43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6ad81a6a9bc49f8" /><Relationship Type="http://schemas.openxmlformats.org/officeDocument/2006/relationships/slide" Target="/ppt/slides/slide5.xml" Id="R7c5cf6f49a5140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ab9ff3cf7b14025" /><Relationship Type="http://schemas.openxmlformats.org/officeDocument/2006/relationships/slide" Target="/ppt/slides/slide6.xml" Id="R92878b32cea64e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c1d6307ba624aab" /><Relationship Type="http://schemas.openxmlformats.org/officeDocument/2006/relationships/slide" Target="/ppt/slides/slide7.xml" Id="R6b0f36a6306241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b6c3f70ae0d4f28" /><Relationship Type="http://schemas.openxmlformats.org/officeDocument/2006/relationships/slide" Target="/ppt/slides/slide8.xml" Id="Ra005ba94eb414a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5864f8fc6754f59" /><Relationship Type="http://schemas.openxmlformats.org/officeDocument/2006/relationships/slide" Target="/ppt/slides/slide9.xml" Id="R30533e0e3dd24b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41cff9ef0bb4970" /><Relationship Type="http://schemas.openxmlformats.org/officeDocument/2006/relationships/slide" Target="/ppt/slides/slide10.xml" Id="R21c91f4e5ea149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574c22a2fe14a9b" /><Relationship Type="http://schemas.openxmlformats.org/officeDocument/2006/relationships/slide" Target="/ppt/slides/slide11.xml" Id="Rbaabcacef9c24e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5d917ff28674861" /><Relationship Type="http://schemas.openxmlformats.org/officeDocument/2006/relationships/slide" Target="/ppt/slides/slide12.xml" Id="Ra7874c36c6af42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3cc52645bed41d4" /><Relationship Type="http://schemas.openxmlformats.org/officeDocument/2006/relationships/slide" Target="/ppt/slides/slide13.xml" Id="Re43ab4a575da41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介绍三轴系统。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进入组件说明。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说明下一步。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强调组合边界。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解释三项分工。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强调系统价值。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解释制作流程。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说明三个输入共同形成页面。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说明素材职责。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引用原则，不承担 closing。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突出首批范围。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说明设计语言与视觉呈现是两个独立维度。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逐项说明六种设计语言均可与兼容呈现组合。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b53b0780c748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10bf0043f45e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05162e014a4da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9cb5d3cf9144c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9e467e76b40b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ea3aefd70ae44a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70f7169724f98" /><Relationship Type="http://schemas.openxmlformats.org/officeDocument/2006/relationships/notesSlide" Target="/ppt/notesSlides/notesSlide1.xml" Id="R1151cb1a5d574b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23e32f97642b2" /><Relationship Type="http://schemas.openxmlformats.org/officeDocument/2006/relationships/notesSlide" Target="/ppt/notesSlides/notesSlide2.xml" Id="R623d3fd902a941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ade2d8251437d" /><Relationship Type="http://schemas.openxmlformats.org/officeDocument/2006/relationships/notesSlide" Target="/ppt/notesSlides/notesSlide3.xml" Id="Rb3bb6195e65544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5d17a850640bf" /><Relationship Type="http://schemas.openxmlformats.org/officeDocument/2006/relationships/notesSlide" Target="/ppt/notesSlides/notesSlide4.xml" Id="R8558b1357bb843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200991db04dbb" /><Relationship Type="http://schemas.openxmlformats.org/officeDocument/2006/relationships/notesSlide" Target="/ppt/notesSlides/notesSlide5.xml" Id="R3da56ce0464447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4234c909e475e" /><Relationship Type="http://schemas.openxmlformats.org/officeDocument/2006/relationships/notesSlide" Target="/ppt/notesSlides/notesSlide6.xml" Id="R9982d43a1a3442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f9ef385a941d1" /><Relationship Type="http://schemas.openxmlformats.org/officeDocument/2006/relationships/notesSlide" Target="/ppt/notesSlides/notesSlide7.xml" Id="R842127d21d4c47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0fa9aeb32440b" /><Relationship Type="http://schemas.openxmlformats.org/officeDocument/2006/relationships/notesSlide" Target="/ppt/notesSlides/notesSlide8.xml" Id="R94251d65631341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d960518134ea3" /><Relationship Type="http://schemas.openxmlformats.org/officeDocument/2006/relationships/image" Target="/ppt/media/image.svg" Id="Rb9a860a7486140de" /><Relationship Type="http://schemas.openxmlformats.org/officeDocument/2006/relationships/image" Target="/ppt/media/image.png" Id="Rc9589ab1866749c6" /><Relationship Type="http://schemas.openxmlformats.org/officeDocument/2006/relationships/notesSlide" Target="/ppt/notesSlides/notesSlide9.xml" Id="R2b27e86097b441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12de27b6346d5" /><Relationship Type="http://schemas.openxmlformats.org/officeDocument/2006/relationships/notesSlide" Target="/ppt/notesSlides/notesSlide10.xml" Id="R858718ccc05145f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366fb6e764aec" /><Relationship Type="http://schemas.openxmlformats.org/officeDocument/2006/relationships/notesSlide" Target="/ppt/notesSlides/notesSlide11.xml" Id="R8775aa09ee0346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57e87352144e8" /><Relationship Type="http://schemas.openxmlformats.org/officeDocument/2006/relationships/chart" Target="/ppt/slides/charts/chart1.xml" Id="R648b3239d90c409a" /><Relationship Type="http://schemas.openxmlformats.org/officeDocument/2006/relationships/notesSlide" Target="/ppt/notesSlides/notesSlide12.xml" Id="Rb018daa70d5045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b50e5d57d4220" /><Relationship Type="http://schemas.openxmlformats.org/officeDocument/2006/relationships/notesSlide" Target="/ppt/notesSlides/notesSlide13.xml" Id="R8d0eaba5dfd84d8d" /></Relationships>
</file>

<file path=ppt/slides/charts/chart1.xml><?xml version="1.0" encoding="utf-8"?>
<c:chartSpace xmlns:c="http://schemas.openxmlformats.org/drawingml/2006/chart">
  <c:date1904 val="0"/>
  <c:chart>
    <c:plotArea>
      <c:layout/>
      <c:barChart>
        <c:barDir val="bar"/>
        <c:grouping val="clustered"/>
        <c:varyColors val="0"/>
        <c:ser>
          <c:idx val="0"/>
          <c:order val="0"/>
          <c:tx>
            <c:v>注册数量</c:v>
          </c:tx>
          <c:spPr>
            <a:solidFill xmlns:a="http://schemas.openxmlformats.org/drawingml/2006/main">
              <a:srgbClr val="002FA7"/>
            </a:solidFill>
          </c:spPr>
          <c:invertIfNegative val="0"/>
          <c:cat>
            <c:strLit>
              <c:ptCount val="2"/>
              <c:pt idx="0">
                <c:v>视觉呈现</c:v>
              </c:pt>
              <c:pt idx="1">
                <c:v>设计语言</c:v>
              </c:pt>
            </c:strLit>
          </c:cat>
          <c:val>
            <c:numLit>
              <c:formatCode>General</c:formatCode>
              <c:ptCount val="2"/>
              <c:pt idx="0">
                <c:v>8</c:v>
              </c:pt>
              <c:pt idx="1">
                <c:v>6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5F646B"/>
                </a:solidFill>
                <a:latin typeface="Helvetica"/>
                <a:ea typeface="Helvetica"/>
              </a:defRPr>
            </a:pPr>
          </a:p>
        </c:txPr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  <c:max val="8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5F646B"/>
                </a:solidFill>
                <a:latin typeface="Helvetica"/>
                <a:ea typeface="Helvetica"/>
              </a:defRPr>
            </a:pPr>
          </a:p>
        </c:txPr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spPr>
    <a:solidFill xmlns:a="http://schemas.openxmlformats.org/drawingml/2006/main">
      <a:srgbClr val="F7F7F2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01 / 13</a:t>
            </a: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360000" y="1152000"/>
            <a:ext cx="4320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02FA7"/>
                </a:solidFill>
                <a:latin typeface="Menlo"/>
                <a:ea typeface="Menlo"/>
              </a:rPr>
              <a:t>507-ppt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360000" y="1584000"/>
            <a:ext cx="8820000" cy="109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111111"/>
                </a:solidFill>
                <a:latin typeface="Helvetica"/>
                <a:ea typeface="PingFang SC"/>
              </a:rPr>
              <a:t>三轴视觉系统</a:t>
            </a:r>
          </a:p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360000" y="2880000"/>
            <a:ext cx="6840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>
                <a:solidFill>
                  <a:srgbClr val="5F646B"/>
                </a:solidFill>
                <a:latin typeface="Helvetica"/>
                <a:ea typeface="PingFang SC"/>
              </a:rPr>
              <a:t>语义组件 × 设计语言 × 视觉呈现</a:t>
            </a:r>
          </a:p>
        </p:txBody>
      </p:sp>
      <p:sp>
        <p:nvSpPr>
          <p:cNvPr id="100006" name="TextBox 7"/>
          <p:cNvSpPr txBox="1"/>
          <p:nvPr/>
        </p:nvSpPr>
        <p:spPr>
          <a:xfrm xmlns:a="http://schemas.openxmlformats.org/drawingml/2006/main">
            <a:off x="360000" y="5184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公开 fixture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7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02 / 13</a:t>
            </a:r>
          </a:p>
        </p:txBody>
      </p:sp>
      <p:sp>
        <p:nvSpPr>
          <p:cNvPr id="100009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extBox 4"/>
          <p:cNvSpPr/>
          <p:nvPr/>
        </p:nvSpPr>
        <p:spPr>
          <a:xfrm xmlns:a="http://schemas.openxmlformats.org/drawingml/2006/main">
            <a:off x="54000" y="756000"/>
            <a:ext cx="108000" cy="401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002FA7"/>
              </a:solidFill>
              <a:latin typeface="Helvetica"/>
              <a:ea typeface="PingFang SC"/>
            </a:endParaRPr>
          </a:p>
        </p:txBody>
      </p:sp>
      <p:sp>
        <p:nvSpPr>
          <p:cNvPr id="100011" name="TextBox 5"/>
          <p:cNvSpPr txBox="1"/>
          <p:nvPr/>
        </p:nvSpPr>
        <p:spPr>
          <a:xfrm xmlns:a="http://schemas.openxmlformats.org/drawingml/2006/main">
            <a:off x="360000" y="1152000"/>
            <a:ext cx="4320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02FA7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100012" name="TextBox 6"/>
          <p:cNvSpPr txBox="1"/>
          <p:nvPr/>
        </p:nvSpPr>
        <p:spPr>
          <a:xfrm xmlns:a="http://schemas.openxmlformats.org/drawingml/2006/main">
            <a:off x="360000" y="1584000"/>
            <a:ext cx="8820000" cy="109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111111"/>
                </a:solidFill>
                <a:latin typeface="Helvetica"/>
                <a:ea typeface="PingFang SC"/>
              </a:rPr>
              <a:t>内容关系</a:t>
            </a:r>
          </a:p>
        </p:txBody>
      </p:sp>
      <p:sp>
        <p:nvSpPr>
          <p:cNvPr id="100013" name="TextBox 7"/>
          <p:cNvSpPr txBox="1"/>
          <p:nvPr/>
        </p:nvSpPr>
        <p:spPr>
          <a:xfrm xmlns:a="http://schemas.openxmlformats.org/drawingml/2006/main">
            <a:off x="360000" y="2880000"/>
            <a:ext cx="6840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>
                <a:solidFill>
                  <a:srgbClr val="5F646B"/>
                </a:solidFill>
                <a:latin typeface="Helvetica"/>
                <a:ea typeface="PingFang SC"/>
              </a:rPr>
              <a:t>组件决定这一页要说明什么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F7F7F2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F7F7F2"/>
                </a:solidFill>
                <a:latin typeface="Menlo"/>
                <a:ea typeface="Menlo"/>
              </a:rPr>
              <a:t>03 / 13</a:t>
            </a:r>
          </a:p>
        </p:txBody>
      </p:sp>
      <p:sp>
        <p:nvSpPr>
          <p:cNvPr id="100016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7" name="TextBox 4"/>
          <p:cNvSpPr txBox="1"/>
          <p:nvPr/>
        </p:nvSpPr>
        <p:spPr>
          <a:xfrm xmlns:a="http://schemas.openxmlformats.org/drawingml/2006/main">
            <a:off x="360000" y="1152000"/>
            <a:ext cx="4320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400">
              <a:solidFill>
                <a:srgbClr val="002FA7"/>
              </a:solidFill>
              <a:latin typeface="Menlo"/>
              <a:ea typeface="Menlo"/>
            </a:endParaRPr>
          </a:p>
        </p:txBody>
      </p:sp>
      <p:sp>
        <p:nvSpPr>
          <p:cNvPr id="100018" name="TextBox 5"/>
          <p:cNvSpPr txBox="1"/>
          <p:nvPr/>
        </p:nvSpPr>
        <p:spPr>
          <a:xfrm xmlns:a="http://schemas.openxmlformats.org/drawingml/2006/main">
            <a:off x="360000" y="1584000"/>
            <a:ext cx="8820000" cy="109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F7F7F2"/>
                </a:solidFill>
                <a:latin typeface="Helvetica"/>
                <a:ea typeface="PingFang SC"/>
              </a:rPr>
              <a:t>先看原型，再锁定整套</a:t>
            </a:r>
          </a:p>
        </p:txBody>
      </p:sp>
      <p:sp>
        <p:nvSpPr>
          <p:cNvPr id="100019" name="TextBox 6"/>
          <p:cNvSpPr txBox="1"/>
          <p:nvPr/>
        </p:nvSpPr>
        <p:spPr>
          <a:xfrm xmlns:a="http://schemas.openxmlformats.org/drawingml/2006/main">
            <a:off x="360000" y="2880000"/>
            <a:ext cx="6840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>
                <a:solidFill>
                  <a:srgbClr val="F7F7F2"/>
                </a:solidFill>
                <a:latin typeface="Helvetica"/>
                <a:ea typeface="PingFang SC"/>
              </a:rPr>
              <a:t>跨候选混合后必须重新确认合并原型。</a:t>
            </a:r>
          </a:p>
        </p:txBody>
      </p:sp>
      <p:sp>
        <p:nvSpPr>
          <p:cNvPr id="100020" name="TextBox 7"/>
          <p:cNvSpPr/>
          <p:nvPr/>
        </p:nvSpPr>
        <p:spPr>
          <a:xfrm xmlns:a="http://schemas.openxmlformats.org/drawingml/2006/main">
            <a:off x="360000" y="3960000"/>
            <a:ext cx="2880000" cy="45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7F7F2"/>
                </a:solidFill>
                <a:latin typeface="Helvetica"/>
                <a:ea typeface="PingFang SC"/>
              </a:rPr>
              <a:t>进入视觉制作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04 / 13</a:t>
            </a:r>
          </a:p>
        </p:txBody>
      </p:sp>
      <p:sp>
        <p:nvSpPr>
          <p:cNvPr id="100023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4" name="TextBox 4"/>
          <p:cNvSpPr txBox="1"/>
          <p:nvPr/>
        </p:nvSpPr>
        <p:spPr>
          <a:xfrm xmlns:a="http://schemas.openxmlformats.org/drawingml/2006/main">
            <a:off x="360000" y="1152000"/>
            <a:ext cx="4320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02FA7"/>
                </a:solidFill>
                <a:latin typeface="Menlo"/>
                <a:ea typeface="Menlo"/>
              </a:rPr>
              <a:t>原则</a:t>
            </a:r>
          </a:p>
        </p:txBody>
      </p:sp>
      <p:sp>
        <p:nvSpPr>
          <p:cNvPr id="100025" name="TextBox 5"/>
          <p:cNvSpPr txBox="1"/>
          <p:nvPr/>
        </p:nvSpPr>
        <p:spPr>
          <a:xfrm xmlns:a="http://schemas.openxmlformats.org/drawingml/2006/main">
            <a:off x="360000" y="1584000"/>
            <a:ext cx="8820000" cy="109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111111"/>
                </a:solidFill>
                <a:latin typeface="Helvetica"/>
                <a:ea typeface="PingFang SC"/>
              </a:rPr>
              <a:t>自由组合，不等于任意叠加</a:t>
            </a:r>
          </a:p>
        </p:txBody>
      </p:sp>
      <p:sp>
        <p:nvSpPr>
          <p:cNvPr id="100026" name="TextBox 6"/>
          <p:cNvSpPr txBox="1"/>
          <p:nvPr/>
        </p:nvSpPr>
        <p:spPr>
          <a:xfrm xmlns:a="http://schemas.openxmlformats.org/drawingml/2006/main">
            <a:off x="360000" y="2880000"/>
            <a:ext cx="6840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>
                <a:solidFill>
                  <a:srgbClr val="5F646B"/>
                </a:solidFill>
                <a:latin typeface="Helvetica"/>
                <a:ea typeface="PingFang SC"/>
              </a:rPr>
              <a:t>兼容矩阵与真实载体共同约束组合。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05 / 13</a:t>
            </a:r>
          </a:p>
        </p:txBody>
      </p:sp>
      <p:sp>
        <p:nvSpPr>
          <p:cNvPr id="100029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11111"/>
                </a:solidFill>
                <a:latin typeface="Helvetica"/>
                <a:ea typeface="PingFang SC"/>
              </a:rPr>
              <a:t>三个独立维度</a:t>
            </a:r>
          </a:p>
        </p:txBody>
      </p:sp>
      <p:sp>
        <p:nvSpPr>
          <p:cNvPr id="100031" name="TextBox 5"/>
          <p:cNvSpPr/>
          <p:nvPr/>
        </p:nvSpPr>
        <p:spPr>
          <a:xfrm xmlns:a="http://schemas.openxmlformats.org/drawingml/2006/main">
            <a:off x="360000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32" name="TextBox 6"/>
          <p:cNvSpPr txBox="1"/>
          <p:nvPr/>
        </p:nvSpPr>
        <p:spPr>
          <a:xfrm xmlns:a="http://schemas.openxmlformats.org/drawingml/2006/main">
            <a:off x="360000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组件</a:t>
            </a:r>
          </a:p>
        </p:txBody>
      </p:sp>
      <p:sp>
        <p:nvSpPr>
          <p:cNvPr id="100033" name="TextBox 7"/>
          <p:cNvSpPr txBox="1"/>
          <p:nvPr/>
        </p:nvSpPr>
        <p:spPr>
          <a:xfrm xmlns:a="http://schemas.openxmlformats.org/drawingml/2006/main">
            <a:off x="360000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承载内容关系。</a:t>
            </a:r>
          </a:p>
        </p:txBody>
      </p:sp>
      <p:sp>
        <p:nvSpPr>
          <p:cNvPr id="100034" name="TextBox 8"/>
          <p:cNvSpPr/>
          <p:nvPr/>
        </p:nvSpPr>
        <p:spPr>
          <a:xfrm xmlns:a="http://schemas.openxmlformats.org/drawingml/2006/main">
            <a:off x="3318001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35" name="TextBox 9"/>
          <p:cNvSpPr txBox="1"/>
          <p:nvPr/>
        </p:nvSpPr>
        <p:spPr>
          <a:xfrm xmlns:a="http://schemas.openxmlformats.org/drawingml/2006/main">
            <a:off x="3318001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设计语言</a:t>
            </a:r>
          </a:p>
        </p:txBody>
      </p:sp>
      <p:sp>
        <p:nvSpPr>
          <p:cNvPr id="100036" name="TextBox 10"/>
          <p:cNvSpPr txBox="1"/>
          <p:nvPr/>
        </p:nvSpPr>
        <p:spPr>
          <a:xfrm xmlns:a="http://schemas.openxmlformats.org/drawingml/2006/main">
            <a:off x="3318001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维持整套表达。</a:t>
            </a:r>
          </a:p>
        </p:txBody>
      </p:sp>
      <p:sp>
        <p:nvSpPr>
          <p:cNvPr id="100037" name="TextBox 11"/>
          <p:cNvSpPr/>
          <p:nvPr/>
        </p:nvSpPr>
        <p:spPr>
          <a:xfrm xmlns:a="http://schemas.openxmlformats.org/drawingml/2006/main">
            <a:off x="6275988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11111"/>
              </a:solidFill>
              <a:latin typeface="Helvetica"/>
              <a:ea typeface="PingFang SC"/>
            </a:endParaRPr>
          </a:p>
        </p:txBody>
      </p:sp>
      <p:sp>
        <p:nvSpPr>
          <p:cNvPr id="100038" name="TextBox 12"/>
          <p:cNvSpPr txBox="1"/>
          <p:nvPr/>
        </p:nvSpPr>
        <p:spPr>
          <a:xfrm xmlns:a="http://schemas.openxmlformats.org/drawingml/2006/main">
            <a:off x="6275988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视觉呈现</a:t>
            </a:r>
          </a:p>
        </p:txBody>
      </p:sp>
      <p:sp>
        <p:nvSpPr>
          <p:cNvPr id="100039" name="TextBox 13"/>
          <p:cNvSpPr txBox="1"/>
          <p:nvPr/>
        </p:nvSpPr>
        <p:spPr>
          <a:xfrm xmlns:a="http://schemas.openxmlformats.org/drawingml/2006/main">
            <a:off x="6275988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决定页面如何被看见。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40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41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06 / 13</a:t>
            </a:r>
          </a:p>
        </p:txBody>
      </p:sp>
      <p:sp>
        <p:nvSpPr>
          <p:cNvPr id="100042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3" name="TextBox 4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11111"/>
                </a:solidFill>
                <a:latin typeface="Helvetica"/>
                <a:ea typeface="PingFang SC"/>
              </a:rPr>
              <a:t>模板堆与组合系统</a:t>
            </a:r>
          </a:p>
        </p:txBody>
      </p:sp>
      <p:sp>
        <p:nvSpPr>
          <p:cNvPr id="100044" name="TextBox 5"/>
          <p:cNvSpPr txBox="1"/>
          <p:nvPr/>
        </p:nvSpPr>
        <p:spPr>
          <a:xfrm xmlns:a="http://schemas.openxmlformats.org/drawingml/2006/main">
            <a:off x="360000" y="1872000"/>
            <a:ext cx="4203000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模板堆</a:t>
            </a:r>
          </a:p>
        </p:txBody>
      </p:sp>
      <p:sp>
        <p:nvSpPr>
          <p:cNvPr id="100045" name="TextBox 6"/>
          <p:cNvSpPr txBox="1"/>
          <p:nvPr/>
        </p:nvSpPr>
        <p:spPr>
          <a:xfrm xmlns:a="http://schemas.openxmlformats.org/drawingml/2006/main">
            <a:off x="360000" y="2556000"/>
            <a:ext cx="4203000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每个名字绑定一整套实现。</a:t>
            </a:r>
          </a:p>
        </p:txBody>
      </p:sp>
      <p:sp>
        <p:nvSpPr>
          <p:cNvPr id="100046" name="TextBox 7"/>
          <p:cNvSpPr txBox="1"/>
          <p:nvPr/>
        </p:nvSpPr>
        <p:spPr>
          <a:xfrm xmlns:a="http://schemas.openxmlformats.org/drawingml/2006/main">
            <a:off x="4797000" y="1872000"/>
            <a:ext cx="4203000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组合系统</a:t>
            </a:r>
          </a:p>
        </p:txBody>
      </p:sp>
      <p:sp>
        <p:nvSpPr>
          <p:cNvPr id="100047" name="TextBox 8"/>
          <p:cNvSpPr txBox="1"/>
          <p:nvPr/>
        </p:nvSpPr>
        <p:spPr>
          <a:xfrm xmlns:a="http://schemas.openxmlformats.org/drawingml/2006/main">
            <a:off x="4797000" y="2556000"/>
            <a:ext cx="4203000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三个维度按内容动态组合。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48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49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07 / 13</a:t>
            </a:r>
          </a:p>
        </p:txBody>
      </p:sp>
      <p:sp>
        <p:nvSpPr>
          <p:cNvPr id="100050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1" name="TextBox 4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11111"/>
                </a:solidFill>
                <a:latin typeface="Helvetica"/>
                <a:ea typeface="PingFang SC"/>
              </a:rPr>
              <a:t>从内容到成品</a:t>
            </a:r>
          </a:p>
        </p:txBody>
      </p:sp>
      <p:sp>
        <p:nvSpPr>
          <p:cNvPr id="100052" name="TextBox 5"/>
          <p:cNvSpPr/>
          <p:nvPr/>
        </p:nvSpPr>
        <p:spPr>
          <a:xfrm xmlns:a="http://schemas.openxmlformats.org/drawingml/2006/main">
            <a:off x="360000" y="2250000"/>
            <a:ext cx="8640000" cy="14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BC0"/>
          </a:solidFill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B8BBC0"/>
              </a:solidFill>
              <a:latin typeface="Helvetica"/>
              <a:ea typeface="PingFang SC"/>
            </a:endParaRPr>
          </a:p>
        </p:txBody>
      </p:sp>
      <p:sp>
        <p:nvSpPr>
          <p:cNvPr id="100053" name="TextBox 6"/>
          <p:cNvSpPr txBox="1"/>
          <p:nvPr/>
        </p:nvSpPr>
        <p:spPr>
          <a:xfrm xmlns:a="http://schemas.openxmlformats.org/drawingml/2006/main">
            <a:off x="360000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01 · 推荐</a:t>
            </a:r>
          </a:p>
        </p:txBody>
      </p:sp>
      <p:sp>
        <p:nvSpPr>
          <p:cNvPr id="100054" name="TextBox 7"/>
          <p:cNvSpPr txBox="1"/>
          <p:nvPr/>
        </p:nvSpPr>
        <p:spPr>
          <a:xfrm xmlns:a="http://schemas.openxmlformats.org/drawingml/2006/main">
            <a:off x="360000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Agent 基于内容提出候选。</a:t>
            </a:r>
          </a:p>
        </p:txBody>
      </p:sp>
      <p:sp>
        <p:nvSpPr>
          <p:cNvPr id="100055" name="TextBox 8"/>
          <p:cNvSpPr txBox="1"/>
          <p:nvPr/>
        </p:nvSpPr>
        <p:spPr>
          <a:xfrm xmlns:a="http://schemas.openxmlformats.org/drawingml/2006/main">
            <a:off x="3318001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02 · 原型</a:t>
            </a:r>
          </a:p>
        </p:txBody>
      </p:sp>
      <p:sp>
        <p:nvSpPr>
          <p:cNvPr id="100056" name="TextBox 9"/>
          <p:cNvSpPr txBox="1"/>
          <p:nvPr/>
        </p:nvSpPr>
        <p:spPr>
          <a:xfrm xmlns:a="http://schemas.openxmlformats.org/drawingml/2006/main">
            <a:off x="3318001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使用代表页验证组合。</a:t>
            </a:r>
          </a:p>
        </p:txBody>
      </p:sp>
      <p:sp>
        <p:nvSpPr>
          <p:cNvPr id="100057" name="TextBox 10"/>
          <p:cNvSpPr txBox="1"/>
          <p:nvPr/>
        </p:nvSpPr>
        <p:spPr>
          <a:xfrm xmlns:a="http://schemas.openxmlformats.org/drawingml/2006/main">
            <a:off x="6275988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002FA7"/>
                </a:solidFill>
                <a:latin typeface="Helvetica"/>
                <a:ea typeface="PingFang SC"/>
              </a:rPr>
              <a:t>03 · 锁定</a:t>
            </a:r>
          </a:p>
        </p:txBody>
      </p:sp>
      <p:sp>
        <p:nvSpPr>
          <p:cNvPr id="100058" name="TextBox 11"/>
          <p:cNvSpPr txBox="1"/>
          <p:nvPr/>
        </p:nvSpPr>
        <p:spPr>
          <a:xfrm xmlns:a="http://schemas.openxmlformats.org/drawingml/2006/main">
            <a:off x="6275988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11111"/>
                </a:solidFill>
                <a:latin typeface="Helvetica"/>
                <a:ea typeface="PingFang SC"/>
              </a:rPr>
              <a:t>确认后生成完整双载体。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59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60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08 / 13</a:t>
            </a:r>
          </a:p>
        </p:txBody>
      </p:sp>
      <p:sp>
        <p:nvSpPr>
          <p:cNvPr id="100061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2" name="TextBox 4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11111"/>
                </a:solidFill>
                <a:latin typeface="Helvetica"/>
                <a:ea typeface="PingFang SC"/>
              </a:rPr>
              <a:t>组件、语言与呈现相互独立</a:t>
            </a:r>
          </a:p>
        </p:txBody>
      </p:sp>
      <p:sp>
        <p:nvSpPr>
          <p:cNvPr id="100063" name="TextBox 5"/>
          <p:cNvSpPr/>
          <p:nvPr/>
        </p:nvSpPr>
        <p:spPr>
          <a:xfrm xmlns:a="http://schemas.openxmlformats.org/drawingml/2006/main">
            <a:off x="360000" y="1620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组件</a:t>
            </a:r>
          </a:p>
        </p:txBody>
      </p:sp>
      <p:sp>
        <p:nvSpPr>
          <p:cNvPr id="100064" name="TextBox 6"/>
          <p:cNvSpPr/>
          <p:nvPr/>
        </p:nvSpPr>
        <p:spPr>
          <a:xfrm xmlns:a="http://schemas.openxmlformats.org/drawingml/2006/main">
            <a:off x="4860000" y="1620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设计语言</a:t>
            </a:r>
          </a:p>
        </p:txBody>
      </p:sp>
      <p:sp>
        <p:nvSpPr>
          <p:cNvPr id="100065" name="TextBox 7"/>
          <p:cNvSpPr/>
          <p:nvPr/>
        </p:nvSpPr>
        <p:spPr>
          <a:xfrm xmlns:a="http://schemas.openxmlformats.org/drawingml/2006/main">
            <a:off x="360000" y="2574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视觉呈现</a:t>
            </a:r>
          </a:p>
        </p:txBody>
      </p:sp>
      <p:sp>
        <p:nvSpPr>
          <p:cNvPr id="100066" name="TextBox 8"/>
          <p:cNvSpPr/>
          <p:nvPr/>
        </p:nvSpPr>
        <p:spPr>
          <a:xfrm xmlns:a="http://schemas.openxmlformats.org/drawingml/2006/main">
            <a:off x="4860000" y="2574000"/>
            <a:ext cx="38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BBC0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11111"/>
                </a:solidFill>
                <a:latin typeface="Helvetica"/>
                <a:ea typeface="PingFang SC"/>
              </a:rPr>
              <a:t>页面成品</a:t>
            </a:r>
          </a:p>
        </p:txBody>
      </p:sp>
      <p:sp>
        <p:nvSpPr>
          <p:cNvPr id="100067" name="TextBox 9"/>
          <p:cNvSpPr txBox="1"/>
          <p:nvPr/>
        </p:nvSpPr>
        <p:spPr>
          <a:xfrm xmlns:a="http://schemas.openxmlformats.org/drawingml/2006/main">
            <a:off x="5040000" y="3780000"/>
            <a:ext cx="4320000" cy="9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component → artifact  语义</a:t>
            </a:r>
          </a:p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language → artifact  规则</a:t>
            </a:r>
          </a:p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presentation → artifact  表现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68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69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09 / 13</a:t>
            </a:r>
          </a:p>
        </p:txBody>
      </p:sp>
      <p:sp>
        <p:nvSpPr>
          <p:cNvPr id="100070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TextBox 4"/>
          <p:cNvSpPr txBox="1"/>
          <p:nvPr/>
        </p:nvSpPr>
        <p:spPr>
          <a:xfrm xmlns:a="http://schemas.openxmlformats.org/drawingml/2006/main">
            <a:off x="360000" y="810000"/>
            <a:ext cx="342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证据</a:t>
            </a:r>
          </a:p>
        </p:txBody>
      </p:sp>
      <p:sp>
        <p:nvSpPr>
          <p:cNvPr id="100072" name="TextBox 5"/>
          <p:cNvSpPr txBox="1"/>
          <p:nvPr/>
        </p:nvSpPr>
        <p:spPr>
          <a:xfrm xmlns:a="http://schemas.openxmlformats.org/drawingml/2006/main">
            <a:off x="360000" y="1080000"/>
            <a:ext cx="3420000" cy="70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11111"/>
                </a:solidFill>
                <a:latin typeface="Helvetica"/>
                <a:ea typeface="PingFang SC"/>
              </a:rPr>
              <a:t>素材承担一个问题</a:t>
            </a:r>
          </a:p>
        </p:txBody>
      </p:sp>
      <p:sp>
        <p:nvSpPr>
          <p:cNvPr id="100073" name="TextBox 6"/>
          <p:cNvSpPr txBox="1"/>
          <p:nvPr/>
        </p:nvSpPr>
        <p:spPr>
          <a:xfrm xmlns:a="http://schemas.openxmlformats.org/drawingml/2006/main">
            <a:off x="360000" y="1908000"/>
            <a:ext cx="342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F646B"/>
                </a:solidFill>
                <a:latin typeface="Helvetica"/>
                <a:ea typeface="PingFang SC"/>
              </a:rPr>
              <a:t>图像应证明内容，</a:t>
            </a:r>
            <a:br/>
            <a:r>
              <a:rPr lang="en-US" sz="1800">
                <a:solidFill>
                  <a:srgbClr val="5F646B"/>
                </a:solidFill>
                <a:latin typeface="Helvetica"/>
                <a:ea typeface="PingFang SC"/>
              </a:rPr>
              <a:t>而不是填满空白。</a:t>
            </a:r>
          </a:p>
        </p:txBody>
      </p:sp>
      <p:pic>
        <p:nvPicPr>
          <p:cNvPr id="100074" name="Picture 1" descr="包含文件、编辑器和预览区域的抽象工作台示意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589ab1866749c6">
            <a:extLst>
              <a:ext uri="{96DAC541-7B7A-43D3-8B79-37D633B846F1}">
                <asvg:svgBlip xmlns:asvg="http://schemas.microsoft.com/office/drawing/2016/SVG/main" r:embed="Rb9a860a7486140de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140000" y="1195877"/>
            <a:ext cx="5220000" cy="2936250"/>
          </a:xfrm>
          <a:prstGeom xmlns:a="http://schemas.openxmlformats.org/drawingml/2006/main" prst="rect">
            <a:avLst/>
          </a:prstGeom>
        </p:spPr>
      </p:pic>
      <p:sp>
        <p:nvSpPr>
          <p:cNvPr id="100075" name="TextBox 7"/>
          <p:cNvSpPr txBox="1"/>
          <p:nvPr/>
        </p:nvSpPr>
        <p:spPr>
          <a:xfrm xmlns:a="http://schemas.openxmlformats.org/drawingml/2006/main">
            <a:off x="4140000" y="4500000"/>
            <a:ext cx="522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F646B"/>
                </a:solidFill>
                <a:latin typeface="Menlo"/>
                <a:ea typeface="Menlo"/>
              </a:rPr>
              <a:t>抽象工作台示意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/>
      <p:sp>
        <p:nvSpPr>
          <p:cNvPr id="100076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F7F7F2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77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F7F7F2"/>
                </a:solidFill>
                <a:latin typeface="Menlo"/>
                <a:ea typeface="Menlo"/>
              </a:rPr>
              <a:t>10 / 13</a:t>
            </a:r>
          </a:p>
        </p:txBody>
      </p:sp>
      <p:sp>
        <p:nvSpPr>
          <p:cNvPr id="100078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9" name="TextBox 4"/>
          <p:cNvSpPr txBox="1"/>
          <p:nvPr/>
        </p:nvSpPr>
        <p:spPr>
          <a:xfrm xmlns:a="http://schemas.openxmlformats.org/drawingml/2006/main">
            <a:off x="360000" y="540000"/>
            <a:ext cx="108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6200">
                <a:solidFill>
                  <a:srgbClr val="002FA7"/>
                </a:solidFill>
                <a:latin typeface="Helvetica"/>
                <a:ea typeface="PingFang SC"/>
              </a:rPr>
              <a:t>“</a:t>
            </a:r>
          </a:p>
        </p:txBody>
      </p:sp>
      <p:sp>
        <p:nvSpPr>
          <p:cNvPr id="100080" name="TextBox 5"/>
          <p:cNvSpPr/>
          <p:nvPr/>
        </p:nvSpPr>
        <p:spPr>
          <a:xfrm xmlns:a="http://schemas.openxmlformats.org/drawingml/2006/main">
            <a:off x="558000" y="1620000"/>
            <a:ext cx="28800" cy="23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002FA7"/>
              </a:solidFill>
              <a:latin typeface="Helvetica"/>
              <a:ea typeface="PingFang SC"/>
            </a:endParaRPr>
          </a:p>
        </p:txBody>
      </p:sp>
      <p:sp>
        <p:nvSpPr>
          <p:cNvPr id="100081" name="TextBox 6"/>
          <p:cNvSpPr txBox="1"/>
          <p:nvPr/>
        </p:nvSpPr>
        <p:spPr>
          <a:xfrm xmlns:a="http://schemas.openxmlformats.org/drawingml/2006/main">
            <a:off x="864000" y="1800000"/>
            <a:ext cx="8280000" cy="174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500" b="1">
                <a:solidFill>
                  <a:srgbClr val="F7F7F2"/>
                </a:solidFill>
                <a:latin typeface="Helvetica"/>
                <a:ea typeface="PingFang SC"/>
              </a:rPr>
              <a:t>视觉变化必须由内容关系承重。</a:t>
            </a:r>
          </a:p>
        </p:txBody>
      </p:sp>
      <p:sp>
        <p:nvSpPr>
          <p:cNvPr id="100082" name="TextBox 7"/>
          <p:cNvSpPr txBox="1"/>
          <p:nvPr/>
        </p:nvSpPr>
        <p:spPr>
          <a:xfrm xmlns:a="http://schemas.openxmlformats.org/drawingml/2006/main">
            <a:off x="864000" y="4176000"/>
            <a:ext cx="4320000" cy="34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507-ppt 设计原则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83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84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11 / 13</a:t>
            </a:r>
          </a:p>
        </p:txBody>
      </p:sp>
      <p:sp>
        <p:nvSpPr>
          <p:cNvPr id="100085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6" name="TextBox 4"/>
          <p:cNvSpPr txBox="1"/>
          <p:nvPr/>
        </p:nvSpPr>
        <p:spPr>
          <a:xfrm xmlns:a="http://schemas.openxmlformats.org/drawingml/2006/main">
            <a:off x="4680000" y="1368000"/>
            <a:ext cx="4680000" cy="63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11111"/>
                </a:solidFill>
                <a:latin typeface="Helvetica"/>
                <a:ea typeface="PingFang SC"/>
              </a:rPr>
              <a:t>语义叶组件</a:t>
            </a:r>
          </a:p>
        </p:txBody>
      </p:sp>
      <p:sp>
        <p:nvSpPr>
          <p:cNvPr id="100087" name="TextBox 5"/>
          <p:cNvSpPr txBox="1"/>
          <p:nvPr/>
        </p:nvSpPr>
        <p:spPr>
          <a:xfrm xmlns:a="http://schemas.openxmlformats.org/drawingml/2006/main">
            <a:off x="360000" y="1152000"/>
            <a:ext cx="3780000" cy="192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200" b="1">
                <a:solidFill>
                  <a:srgbClr val="002FA7"/>
                </a:solidFill>
                <a:latin typeface="Helvetica"/>
                <a:ea typeface="PingFang SC"/>
              </a:rPr>
              <a:t>13</a:t>
            </a:r>
          </a:p>
        </p:txBody>
      </p:sp>
      <p:sp>
        <p:nvSpPr>
          <p:cNvPr id="100088" name="TextBox 6"/>
          <p:cNvSpPr txBox="1"/>
          <p:nvPr/>
        </p:nvSpPr>
        <p:spPr>
          <a:xfrm xmlns:a="http://schemas.openxmlformats.org/drawingml/2006/main">
            <a:off x="360000" y="3240000"/>
            <a:ext cx="3600000" cy="4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111111"/>
                </a:solidFill>
                <a:latin typeface="Helvetica"/>
                <a:ea typeface="PingFang SC"/>
              </a:rPr>
              <a:t>首批语义叶组件</a:t>
            </a:r>
          </a:p>
        </p:txBody>
      </p:sp>
      <p:sp>
        <p:nvSpPr>
          <p:cNvPr id="100089" name="TextBox 7"/>
          <p:cNvSpPr txBox="1"/>
          <p:nvPr/>
        </p:nvSpPr>
        <p:spPr>
          <a:xfrm xmlns:a="http://schemas.openxmlformats.org/drawingml/2006/main">
            <a:off x="4680000" y="2160000"/>
            <a:ext cx="432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F646B"/>
                </a:solidFill>
                <a:latin typeface="Helvetica"/>
                <a:ea typeface="PingFang SC"/>
              </a:rPr>
              <a:t>数据证据保留 metric、chart、table 三个子类型。</a:t>
            </a:r>
          </a:p>
        </p:txBody>
      </p:sp>
      <p:sp>
        <p:nvSpPr>
          <p:cNvPr id="100090" name="TextBox 8"/>
          <p:cNvSpPr txBox="1"/>
          <p:nvPr/>
        </p:nvSpPr>
        <p:spPr>
          <a:xfrm xmlns:a="http://schemas.openxmlformats.org/drawingml/2006/main">
            <a:off x="4680000" y="4248000"/>
            <a:ext cx="4320000" cy="34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507-ppt registry</a:t>
            </a:r>
          </a:p>
        </p:txBody>
      </p:sp>
    </p:spTree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91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92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12 / 13</a:t>
            </a:r>
          </a:p>
        </p:txBody>
      </p:sp>
      <p:sp>
        <p:nvSpPr>
          <p:cNvPr id="100093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4" name="TextBox 4"/>
          <p:cNvSpPr txBox="1"/>
          <p:nvPr/>
        </p:nvSpPr>
        <p:spPr>
          <a:xfrm xmlns:a="http://schemas.openxmlformats.org/drawingml/2006/main">
            <a:off x="360000" y="864000"/>
            <a:ext cx="3312000" cy="91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Helvetica"/>
                <a:ea typeface="PingFang SC"/>
              </a:rPr>
              <a:t>六种语言，</a:t>
            </a:r>
            <a:br/>
            <a:r>
              <a:rPr lang="en-US" sz="2700" b="1">
                <a:solidFill>
                  <a:srgbClr val="111111"/>
                </a:solidFill>
                <a:latin typeface="Helvetica"/>
                <a:ea typeface="PingFang SC"/>
              </a:rPr>
              <a:t>八类呈现</a:t>
            </a:r>
          </a:p>
        </p:txBody>
      </p:sp>
      <p:graphicFrame>
        <p:nvGraphicFramePr>
          <p:cNvPr id="100095" name="Chart 1"/>
          <p:cNvGraphicFramePr/>
          <p:nvPr/>
        </p:nvGraphicFramePr>
        <p:xfrm>
          <a:off xmlns:a="http://schemas.openxmlformats.org/drawingml/2006/main" x="3744000" y="1260000"/>
          <a:ext xmlns:a="http://schemas.openxmlformats.org/drawingml/2006/main" cx="5832000" cy="331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8b3239d90c409a"/>
          </a:graphicData>
        </a:graphic>
      </p:graphicFrame>
      <p:sp>
        <p:nvSpPr>
          <p:cNvPr id="100096" name="TextBox 5"/>
          <p:cNvSpPr txBox="1"/>
          <p:nvPr/>
        </p:nvSpPr>
        <p:spPr>
          <a:xfrm xmlns:a="http://schemas.openxmlformats.org/drawingml/2006/main">
            <a:off x="360000" y="4608000"/>
            <a:ext cx="3312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当前 507-ppt 三轴注册表</a:t>
            </a:r>
          </a:p>
        </p:txBody>
      </p:sp>
    </p:spTree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97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98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13 / 13</a:t>
            </a:r>
          </a:p>
        </p:txBody>
      </p:sp>
      <p:sp>
        <p:nvSpPr>
          <p:cNvPr id="100099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0" name="TextBox 4"/>
          <p:cNvSpPr txBox="1"/>
          <p:nvPr/>
        </p:nvSpPr>
        <p:spPr>
          <a:xfrm xmlns:a="http://schemas.openxmlformats.org/drawingml/2006/main">
            <a:off x="576000" y="756000"/>
            <a:ext cx="8640000" cy="63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Helvetica"/>
                <a:ea typeface="PingFang SC"/>
              </a:rPr>
              <a:t>六种设计语言当前能力</a:t>
            </a:r>
          </a:p>
        </p:txBody>
      </p:sp>
      <p:graphicFrame>
        <p:nvGraphicFramePr>
          <p:cNvPr id="100101" name="Table 1"/>
          <p:cNvGraphicFramePr/>
          <p:nvPr/>
        </p:nvGraphicFramePr>
        <p:xfrm>
          <a:off xmlns:a="http://schemas.openxmlformats.org/drawingml/2006/main" x="576000" y="1440000"/>
          <a:ext xmlns:a="http://schemas.openxmlformats.org/drawingml/2006/main" cx="8640000" cy="3456000"/>
        </p:xfrm>
        <a:graphic xmlns:a="http://schemas.openxmlformats.org/drawingml/2006/main"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872000"/>
                <a:gridCol w="3384000"/>
                <a:gridCol w="3384000"/>
              </a:tblGrid>
              <a:tr h="493714">
                <a:tc>
                  <a:txBody>
                    <a:bodyPr wrap="square"/>
                    <a:lstStyle/>
                    <a:p>
                      <a:r>
                        <a:rPr lang="en-US" sz="11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方向</a:t>
                      </a:r>
                    </a:p>
                  </a:txBody>
                  <a:tcPr marL="57600" marR="57600" marT="57600" marB="57600">
                    <a:lnR>
                      <a:noFill/>
                    </a:lnR>
                    <a:lnT w="12700">
                      <a:solidFill>
                        <a:srgbClr val="111111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002FA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状态</a:t>
                      </a:r>
                    </a:p>
                  </a:txBody>
                  <a:tcPr marL="57600" marR="57600" marT="57600" marB="57600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111111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002FA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当前能力</a:t>
                      </a:r>
                    </a:p>
                  </a:txBody>
                  <a:tcPr marL="57600" marR="57600" marT="57600" marB="57600">
                    <a:lnL>
                      <a:noFill/>
                    </a:lnL>
                    <a:lnT w="12700">
                      <a:solidFill>
                        <a:srgbClr val="111111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002FA7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Swiss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网格与层级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Magazine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编辑栅格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Cobalt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产品模块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Clay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温暖叙事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Forest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研究层级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Noir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12700">
                      <a:solidFill>
                        <a:srgbClr val="11111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12700">
                      <a:solidFill>
                        <a:srgbClr val="11111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强声明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12700">
                      <a:solidFill>
                        <a:srgbClr val="11111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102" name="TextBox 5"/>
          <p:cNvSpPr txBox="1"/>
          <p:nvPr/>
        </p:nvSpPr>
        <p:spPr>
          <a:xfrm xmlns:a="http://schemas.openxmlformats.org/drawingml/2006/main">
            <a:off x="576000" y="5076000"/>
            <a:ext cx="720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800">
                <a:solidFill>
                  <a:srgbClr val="5F646B"/>
                </a:solidFill>
                <a:latin typeface="Menlo"/>
                <a:ea typeface="Menlo"/>
              </a:rPr>
              <a:t>当前 507-ppt registry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OfficeCLI/1.0.149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2026-09-26T03:50:00Z</dcterms:created>
  <cp:lastModifiedBy>OfficeCLI</cp:lastModifiedBy>
  <dcterms:modified xsi:type="dcterms:W3CDTF">2026-09-26T03:50:00Z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1.0.149</vt:lpwstr>
  </op:property>
  <op:property fmtid="{D5CDD505-2E9C-101B-9397-08002B2CF9AE}" pid="3" name="OfficeCLI.LastModified">
    <vt:lpwstr xmlns:vt="http://schemas.openxmlformats.org/officeDocument/2006/docPropsVTypes">2026-09-26T03:50:25Z</vt:lpwstr>
  </op:property>
</op:Properties>
</file>