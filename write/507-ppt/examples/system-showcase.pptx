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fbbfdaceb4d42af" /><Relationship Type="http://schemas.openxmlformats.org/package/2006/relationships/metadata/core-properties" Target="/docProps/core.xml" Id="Ra50bb16084104c57" /><Relationship Type="http://schemas.openxmlformats.org/officeDocument/2006/relationships/extended-properties" Target="/docProps/app.xml" Id="R76e003df26794a28" /><Relationship Type="http://schemas.openxmlformats.org/officeDocument/2006/relationships/custom-properties" Target="/docProps/custom.xml" Id="R40d3a524acea44c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3011f649f7447b2"/>
  </p:notesMasterIdLst>
  <p:sldIdLst>
    <p:sldId id="256" r:id="R8e06585661604cc6"/>
    <p:sldId id="257" r:id="R344d8464d5ab4177"/>
    <p:sldId id="258" r:id="Ra04ac128cf554595"/>
    <p:sldId id="259" r:id="R83d95f77bf314ed8"/>
    <p:sldId id="260" r:id="R7f069b6ac5244eb7"/>
    <p:sldId id="261" r:id="Rd3b85221c4154db2"/>
    <p:sldId id="262" r:id="Rc40475a02f2a4846"/>
    <p:sldId id="263" r:id="R0173a6c68b1741e9"/>
    <p:sldId id="264" r:id="R3f39173940074d3f"/>
    <p:sldId id="265" r:id="Rd46c560316bb4469"/>
    <p:sldId id="266" r:id="Read9397875ad460d"/>
    <p:sldId id="267" r:id="Rb6d93f28738f4071"/>
    <p:sldId id="268" r:id="Rb7e765b1e7b148f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e06585661604cc6" /><Relationship Type="http://schemas.openxmlformats.org/officeDocument/2006/relationships/slide" Target="/ppt/slides/slide2.xml" Id="R344d8464d5ab4177" /><Relationship Type="http://schemas.openxmlformats.org/officeDocument/2006/relationships/slide" Target="/ppt/slides/slide3.xml" Id="Ra04ac128cf554595" /><Relationship Type="http://schemas.openxmlformats.org/officeDocument/2006/relationships/slide" Target="/ppt/slides/slide4.xml" Id="R83d95f77bf314ed8" /><Relationship Type="http://schemas.openxmlformats.org/officeDocument/2006/relationships/slide" Target="/ppt/slides/slide5.xml" Id="R7f069b6ac5244eb7" /><Relationship Type="http://schemas.openxmlformats.org/officeDocument/2006/relationships/slide" Target="/ppt/slides/slide6.xml" Id="Rd3b85221c4154db2" /><Relationship Type="http://schemas.openxmlformats.org/officeDocument/2006/relationships/slide" Target="/ppt/slides/slide7.xml" Id="Rc40475a02f2a4846" /><Relationship Type="http://schemas.openxmlformats.org/officeDocument/2006/relationships/slide" Target="/ppt/slides/slide8.xml" Id="R0173a6c68b1741e9" /><Relationship Type="http://schemas.openxmlformats.org/officeDocument/2006/relationships/slide" Target="/ppt/slides/slide9.xml" Id="R3f39173940074d3f" /><Relationship Type="http://schemas.openxmlformats.org/officeDocument/2006/relationships/slide" Target="/ppt/slides/slide10.xml" Id="Rd46c560316bb4469" /><Relationship Type="http://schemas.openxmlformats.org/officeDocument/2006/relationships/slide" Target="/ppt/slides/slide11.xml" Id="Read9397875ad460d" /><Relationship Type="http://schemas.openxmlformats.org/officeDocument/2006/relationships/slide" Target="/ppt/slides/slide12.xml" Id="Rb6d93f28738f4071" /><Relationship Type="http://schemas.openxmlformats.org/officeDocument/2006/relationships/slide" Target="/ppt/slides/slide13.xml" Id="Rb7e765b1e7b148f5" /><Relationship Type="http://schemas.openxmlformats.org/officeDocument/2006/relationships/notesMaster" Target="/ppt/notesMasters/notesMaster1.xml" Id="Rb3011f649f74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ef08d3a3d6418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dc12f60a784587" /><Relationship Type="http://schemas.openxmlformats.org/officeDocument/2006/relationships/slide" Target="/ppt/slides/slide1.xml" Id="Re51e54197c3e48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fd62bc6274c4df9" /><Relationship Type="http://schemas.openxmlformats.org/officeDocument/2006/relationships/slide" Target="/ppt/slides/slide2.xml" Id="R9c0a19fb0b7e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12157503f240cc" /><Relationship Type="http://schemas.openxmlformats.org/officeDocument/2006/relationships/slide" Target="/ppt/slides/slide3.xml" Id="Rdf45e4ec0597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8c077692d53491a" /><Relationship Type="http://schemas.openxmlformats.org/officeDocument/2006/relationships/slide" Target="/ppt/slides/slide4.xml" Id="Ra3e59b508feb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777bdf7ad9443c" /><Relationship Type="http://schemas.openxmlformats.org/officeDocument/2006/relationships/slide" Target="/ppt/slides/slide5.xml" Id="Rd6d9a9e980ad45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4d912ef91ff4d83" /><Relationship Type="http://schemas.openxmlformats.org/officeDocument/2006/relationships/slide" Target="/ppt/slides/slide6.xml" Id="R7a6cb653e1fe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341059fb33447bf" /><Relationship Type="http://schemas.openxmlformats.org/officeDocument/2006/relationships/slide" Target="/ppt/slides/slide7.xml" Id="Rf0ef242ce2e6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91b9de09e6f491a" /><Relationship Type="http://schemas.openxmlformats.org/officeDocument/2006/relationships/slide" Target="/ppt/slides/slide8.xml" Id="Ree0d5632a350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cb9a3f96fa45b8" /><Relationship Type="http://schemas.openxmlformats.org/officeDocument/2006/relationships/slide" Target="/ppt/slides/slide9.xml" Id="Rfbf2db1c7f1d48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ce27784b234381" /><Relationship Type="http://schemas.openxmlformats.org/officeDocument/2006/relationships/slide" Target="/ppt/slides/slide10.xml" Id="R9ed4e94317a743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12eb457fe64ddb" /><Relationship Type="http://schemas.openxmlformats.org/officeDocument/2006/relationships/slide" Target="/ppt/slides/slide11.xml" Id="R2880944ac8bc4f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3b6924ff9594794" /><Relationship Type="http://schemas.openxmlformats.org/officeDocument/2006/relationships/slide" Target="/ppt/slides/slide12.xml" Id="R42804c1adf5741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c96b14763e41df" /><Relationship Type="http://schemas.openxmlformats.org/officeDocument/2006/relationships/slide" Target="/ppt/slides/slide13.xml" Id="R09f2a2e33aac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介绍三轴系统。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进入组件说明。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说明下一步。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强调组合边界。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解释三项分工。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强调系统价值。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解释制作流程。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说明三个输入共同形成页面。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说明素材职责。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引用原则，不承担 closing。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突出首批范围。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说明设计语言与视觉呈现是两个独立维度。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逐项说明六种设计语言均可与兼容呈现组合。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6d16049c341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9ad798ae341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6a38f2b66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9249289f644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051c4df3e470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c3c0a0c6dbe456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8d5768cd4c82" /><Relationship Type="http://schemas.openxmlformats.org/officeDocument/2006/relationships/notesSlide" Target="/ppt/notesSlides/notesSlide1.xml" Id="R52e6cd931f35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2fcdcfd274c56" /><Relationship Type="http://schemas.openxmlformats.org/officeDocument/2006/relationships/notesSlide" Target="/ppt/notesSlides/notesSlide2.xml" Id="R639a561959db4a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80c0bfa914c24" /><Relationship Type="http://schemas.openxmlformats.org/officeDocument/2006/relationships/notesSlide" Target="/ppt/notesSlides/notesSlide3.xml" Id="R38e80f07e6094c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3114c92db4071" /><Relationship Type="http://schemas.openxmlformats.org/officeDocument/2006/relationships/notesSlide" Target="/ppt/notesSlides/notesSlide4.xml" Id="R6d98b3ef4bc040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b920e63ed4e8d" /><Relationship Type="http://schemas.openxmlformats.org/officeDocument/2006/relationships/notesSlide" Target="/ppt/notesSlides/notesSlide5.xml" Id="R465a97d06e17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53b66d424706" /><Relationship Type="http://schemas.openxmlformats.org/officeDocument/2006/relationships/notesSlide" Target="/ppt/notesSlides/notesSlide6.xml" Id="R0ffc388ee0ae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e3bc59cd24c76" /><Relationship Type="http://schemas.openxmlformats.org/officeDocument/2006/relationships/notesSlide" Target="/ppt/notesSlides/notesSlide7.xml" Id="Rff788a575fbd40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6d50b5a8a44ff" /><Relationship Type="http://schemas.openxmlformats.org/officeDocument/2006/relationships/notesSlide" Target="/ppt/notesSlides/notesSlide8.xml" Id="Rbaafcc4b3a994e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7cc6e33ac4706" /><Relationship Type="http://schemas.openxmlformats.org/officeDocument/2006/relationships/image" Target="/ppt/media/image.svg" Id="R546a0114c77b4947" /><Relationship Type="http://schemas.openxmlformats.org/officeDocument/2006/relationships/image" Target="/ppt/media/image.png" Id="R02e3fd39715a4a62" /><Relationship Type="http://schemas.openxmlformats.org/officeDocument/2006/relationships/notesSlide" Target="/ppt/notesSlides/notesSlide9.xml" Id="R1e57ad1f2e1745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71c3b32e14e94" /><Relationship Type="http://schemas.openxmlformats.org/officeDocument/2006/relationships/notesSlide" Target="/ppt/notesSlides/notesSlide10.xml" Id="R37d57036c79245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a80775673485b" /><Relationship Type="http://schemas.openxmlformats.org/officeDocument/2006/relationships/notesSlide" Target="/ppt/notesSlides/notesSlide11.xml" Id="R761bd656935e4c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2c2993bd4e16" /><Relationship Type="http://schemas.openxmlformats.org/officeDocument/2006/relationships/chart" Target="/ppt/slides/charts/chart1.xml" Id="R5d1785eaa3454697" /><Relationship Type="http://schemas.openxmlformats.org/officeDocument/2006/relationships/notesSlide" Target="/ppt/notesSlides/notesSlide12.xml" Id="R5a89f65b63a746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c155c46d4e5e" /><Relationship Type="http://schemas.openxmlformats.org/officeDocument/2006/relationships/notesSlide" Target="/ppt/notesSlides/notesSlide13.xml" Id="R652e2e6ed2b743eb" /></Relationships>
</file>

<file path=ppt/slides/charts/chart1.xml><?xml version="1.0" encoding="utf-8"?>
<c:chartSpace xmlns:c="http://schemas.openxmlformats.org/drawingml/2006/chart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注册数量</c:v>
          </c:tx>
          <c:spPr>
            <a:solidFill xmlns:a="http://schemas.openxmlformats.org/drawingml/2006/main">
              <a:srgbClr val="002FA7"/>
            </a:solidFill>
          </c:spPr>
          <c:invertIfNegative val="0"/>
          <c:cat>
            <c:strLit>
              <c:ptCount val="2"/>
              <c:pt idx="0">
                <c:v>视觉呈现</c:v>
              </c:pt>
              <c:pt idx="1">
                <c:v>设计语言</c:v>
              </c:pt>
            </c:strLit>
          </c:cat>
          <c:val>
            <c:numLit>
              <c:formatCode>General</c:formatCode>
              <c:ptCount val="2"/>
              <c:pt idx="0">
                <c:v>8</c:v>
              </c:pt>
              <c:pt idx="1">
                <c:v>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F646B"/>
                </a:solidFill>
                <a:latin typeface="Helvetica"/>
                <a:ea typeface="Helvetica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8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F646B"/>
                </a:solidFill>
                <a:latin typeface="Helvetica"/>
                <a:ea typeface="Helvetica"/>
              </a:defRPr>
            </a:pPr>
          </a:p>
        </c:txPr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solidFill xmlns:a="http://schemas.openxmlformats.org/drawingml/2006/main">
      <a:srgbClr val="F7F7F2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01 / 13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507-ppt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11111"/>
                </a:solidFill>
                <a:latin typeface="Helvetica"/>
                <a:ea typeface="PingFang SC"/>
              </a:rPr>
              <a:t>三轴视觉系统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语义组件 × 设计语言 × 视觉呈现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360000" y="5184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公开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02 / 13</a:t>
            </a:r>
          </a:p>
        </p:txBody>
      </p:sp>
      <p:sp>
        <p:nvSpPr>
          <p:cNvPr id="100009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4"/>
          <p:cNvSpPr/>
          <p:nvPr/>
        </p:nvSpPr>
        <p:spPr>
          <a:xfrm xmlns:a="http://schemas.openxmlformats.org/drawingml/2006/main">
            <a:off x="54000" y="756000"/>
            <a:ext cx="108000" cy="40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02FA7"/>
              </a:solidFill>
              <a:latin typeface="Helvetica"/>
              <a:ea typeface="PingFang SC"/>
            </a:endParaRP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11111"/>
                </a:solidFill>
                <a:latin typeface="Helvetica"/>
                <a:ea typeface="PingFang SC"/>
              </a:rPr>
              <a:t>内容关系</a:t>
            </a:r>
          </a:p>
        </p:txBody>
      </p:sp>
      <p:sp>
        <p:nvSpPr>
          <p:cNvPr id="100013" name="TextBox 7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组件决定这一页要说明什么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03 / 13</a:t>
            </a:r>
          </a:p>
        </p:txBody>
      </p:sp>
      <p:sp>
        <p:nvSpPr>
          <p:cNvPr id="100016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400">
              <a:solidFill>
                <a:srgbClr val="002FA7"/>
              </a:solidFill>
              <a:latin typeface="Menlo"/>
              <a:ea typeface="Menlo"/>
            </a:endParaRPr>
          </a:p>
        </p:txBody>
      </p:sp>
      <p:sp>
        <p:nvSpPr>
          <p:cNvPr id="100018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7F7F2"/>
                </a:solidFill>
                <a:latin typeface="Helvetica"/>
                <a:ea typeface="PingFang SC"/>
              </a:rPr>
              <a:t>先看原型，再锁定整套</a:t>
            </a:r>
          </a:p>
        </p:txBody>
      </p:sp>
      <p:sp>
        <p:nvSpPr>
          <p:cNvPr id="100019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F7F7F2"/>
                </a:solidFill>
                <a:latin typeface="Helvetica"/>
                <a:ea typeface="PingFang SC"/>
              </a:rPr>
              <a:t>跨候选混合后必须重新确认合并原型。</a:t>
            </a:r>
          </a:p>
        </p:txBody>
      </p:sp>
      <p:sp>
        <p:nvSpPr>
          <p:cNvPr id="100020" name="TextBox 7"/>
          <p:cNvSpPr/>
          <p:nvPr/>
        </p:nvSpPr>
        <p:spPr>
          <a:xfrm xmlns:a="http://schemas.openxmlformats.org/drawingml/2006/main">
            <a:off x="360000" y="3960000"/>
            <a:ext cx="28800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7F7F2"/>
                </a:solidFill>
                <a:latin typeface="Helvetica"/>
                <a:ea typeface="PingFang SC"/>
              </a:rPr>
              <a:t>进入视觉制作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04 / 13</a:t>
            </a:r>
          </a:p>
        </p:txBody>
      </p:sp>
      <p:sp>
        <p:nvSpPr>
          <p:cNvPr id="100023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原则</a:t>
            </a:r>
          </a:p>
        </p:txBody>
      </p:sp>
      <p:sp>
        <p:nvSpPr>
          <p:cNvPr id="100025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11111"/>
                </a:solidFill>
                <a:latin typeface="Helvetica"/>
                <a:ea typeface="PingFang SC"/>
              </a:rPr>
              <a:t>自由组合，不等于任意叠加</a:t>
            </a:r>
          </a:p>
        </p:txBody>
      </p:sp>
      <p:sp>
        <p:nvSpPr>
          <p:cNvPr id="100026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兼容矩阵与真实载体共同约束组合。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05 / 13</a:t>
            </a:r>
          </a:p>
        </p:txBody>
      </p:sp>
      <p:sp>
        <p:nvSpPr>
          <p:cNvPr id="100029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三个独立维度</a:t>
            </a:r>
          </a:p>
        </p:txBody>
      </p:sp>
      <p:sp>
        <p:nvSpPr>
          <p:cNvPr id="100031" name="TextBox 5"/>
          <p:cNvSpPr/>
          <p:nvPr/>
        </p:nvSpPr>
        <p:spPr>
          <a:xfrm xmlns:a="http://schemas.openxmlformats.org/drawingml/2006/main">
            <a:off x="360000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32" name="TextBox 6"/>
          <p:cNvSpPr txBox="1"/>
          <p:nvPr/>
        </p:nvSpPr>
        <p:spPr>
          <a:xfrm xmlns:a="http://schemas.openxmlformats.org/drawingml/2006/main">
            <a:off x="360000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组件</a:t>
            </a:r>
          </a:p>
        </p:txBody>
      </p:sp>
      <p:sp>
        <p:nvSpPr>
          <p:cNvPr id="100033" name="TextBox 7"/>
          <p:cNvSpPr txBox="1"/>
          <p:nvPr/>
        </p:nvSpPr>
        <p:spPr>
          <a:xfrm xmlns:a="http://schemas.openxmlformats.org/drawingml/2006/main">
            <a:off x="360000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承载内容关系。</a:t>
            </a:r>
          </a:p>
        </p:txBody>
      </p:sp>
      <p:sp>
        <p:nvSpPr>
          <p:cNvPr id="100034" name="TextBox 8"/>
          <p:cNvSpPr/>
          <p:nvPr/>
        </p:nvSpPr>
        <p:spPr>
          <a:xfrm xmlns:a="http://schemas.openxmlformats.org/drawingml/2006/main">
            <a:off x="3318001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35" name="TextBox 9"/>
          <p:cNvSpPr txBox="1"/>
          <p:nvPr/>
        </p:nvSpPr>
        <p:spPr>
          <a:xfrm xmlns:a="http://schemas.openxmlformats.org/drawingml/2006/main">
            <a:off x="3318001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设计语言</a:t>
            </a:r>
          </a:p>
        </p:txBody>
      </p:sp>
      <p:sp>
        <p:nvSpPr>
          <p:cNvPr id="100036" name="TextBox 10"/>
          <p:cNvSpPr txBox="1"/>
          <p:nvPr/>
        </p:nvSpPr>
        <p:spPr>
          <a:xfrm xmlns:a="http://schemas.openxmlformats.org/drawingml/2006/main">
            <a:off x="3318001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维持整套表达。</a:t>
            </a:r>
          </a:p>
        </p:txBody>
      </p:sp>
      <p:sp>
        <p:nvSpPr>
          <p:cNvPr id="100037" name="TextBox 11"/>
          <p:cNvSpPr/>
          <p:nvPr/>
        </p:nvSpPr>
        <p:spPr>
          <a:xfrm xmlns:a="http://schemas.openxmlformats.org/drawingml/2006/main">
            <a:off x="6275988" y="1620000"/>
            <a:ext cx="2724001" cy="264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111111"/>
              </a:solidFill>
              <a:latin typeface="Helvetica"/>
              <a:ea typeface="PingFang SC"/>
            </a:endParaRPr>
          </a:p>
        </p:txBody>
      </p:sp>
      <p:sp>
        <p:nvSpPr>
          <p:cNvPr id="100038" name="TextBox 12"/>
          <p:cNvSpPr txBox="1"/>
          <p:nvPr/>
        </p:nvSpPr>
        <p:spPr>
          <a:xfrm xmlns:a="http://schemas.openxmlformats.org/drawingml/2006/main">
            <a:off x="6275988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视觉呈现</a:t>
            </a:r>
          </a:p>
        </p:txBody>
      </p:sp>
      <p:sp>
        <p:nvSpPr>
          <p:cNvPr id="100039" name="TextBox 13"/>
          <p:cNvSpPr txBox="1"/>
          <p:nvPr/>
        </p:nvSpPr>
        <p:spPr>
          <a:xfrm xmlns:a="http://schemas.openxmlformats.org/drawingml/2006/main">
            <a:off x="6275988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决定页面如何被看见。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40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41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06 / 13</a:t>
            </a:r>
          </a:p>
        </p:txBody>
      </p:sp>
      <p:sp>
        <p:nvSpPr>
          <p:cNvPr id="100042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模板堆与组合系统</a:t>
            </a:r>
          </a:p>
        </p:txBody>
      </p:sp>
      <p:sp>
        <p:nvSpPr>
          <p:cNvPr id="100044" name="TextBox 5"/>
          <p:cNvSpPr txBox="1"/>
          <p:nvPr/>
        </p:nvSpPr>
        <p:spPr>
          <a:xfrm xmlns:a="http://schemas.openxmlformats.org/drawingml/2006/main">
            <a:off x="360000" y="1872000"/>
            <a:ext cx="4203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模板堆</a:t>
            </a:r>
          </a:p>
        </p:txBody>
      </p:sp>
      <p:sp>
        <p:nvSpPr>
          <p:cNvPr id="100045" name="TextBox 6"/>
          <p:cNvSpPr txBox="1"/>
          <p:nvPr/>
        </p:nvSpPr>
        <p:spPr>
          <a:xfrm xmlns:a="http://schemas.openxmlformats.org/drawingml/2006/main">
            <a:off x="360000" y="2556000"/>
            <a:ext cx="4203000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每个名字绑定一整套实现。</a:t>
            </a:r>
          </a:p>
        </p:txBody>
      </p:sp>
      <p:sp>
        <p:nvSpPr>
          <p:cNvPr id="100046" name="TextBox 7"/>
          <p:cNvSpPr txBox="1"/>
          <p:nvPr/>
        </p:nvSpPr>
        <p:spPr>
          <a:xfrm xmlns:a="http://schemas.openxmlformats.org/drawingml/2006/main">
            <a:off x="4797000" y="1872000"/>
            <a:ext cx="4203000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组合系统</a:t>
            </a:r>
          </a:p>
        </p:txBody>
      </p:sp>
      <p:sp>
        <p:nvSpPr>
          <p:cNvPr id="100047" name="TextBox 8"/>
          <p:cNvSpPr txBox="1"/>
          <p:nvPr/>
        </p:nvSpPr>
        <p:spPr>
          <a:xfrm xmlns:a="http://schemas.openxmlformats.org/drawingml/2006/main">
            <a:off x="4797000" y="2556000"/>
            <a:ext cx="4203000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三个维度按内容动态组合。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49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07 / 13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从内容到成品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360000" y="2250000"/>
            <a:ext cx="8640000" cy="14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BC0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B8BBC0"/>
              </a:solidFill>
              <a:latin typeface="Helvetica"/>
              <a:ea typeface="PingFang SC"/>
            </a:endParaRPr>
          </a:p>
        </p:txBody>
      </p:sp>
      <p:sp>
        <p:nvSpPr>
          <p:cNvPr id="100053" name="TextBox 6"/>
          <p:cNvSpPr txBox="1"/>
          <p:nvPr/>
        </p:nvSpPr>
        <p:spPr>
          <a:xfrm xmlns:a="http://schemas.openxmlformats.org/drawingml/2006/main">
            <a:off x="360000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01 · 推荐</a:t>
            </a:r>
          </a:p>
        </p:txBody>
      </p:sp>
      <p:sp>
        <p:nvSpPr>
          <p:cNvPr id="100054" name="TextBox 7"/>
          <p:cNvSpPr txBox="1"/>
          <p:nvPr/>
        </p:nvSpPr>
        <p:spPr>
          <a:xfrm xmlns:a="http://schemas.openxmlformats.org/drawingml/2006/main">
            <a:off x="360000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Agent 基于内容提出候选。</a:t>
            </a:r>
          </a:p>
        </p:txBody>
      </p:sp>
      <p:sp>
        <p:nvSpPr>
          <p:cNvPr id="100055" name="TextBox 8"/>
          <p:cNvSpPr txBox="1"/>
          <p:nvPr/>
        </p:nvSpPr>
        <p:spPr>
          <a:xfrm xmlns:a="http://schemas.openxmlformats.org/drawingml/2006/main">
            <a:off x="3318001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02 · 原型</a:t>
            </a:r>
          </a:p>
        </p:txBody>
      </p:sp>
      <p:sp>
        <p:nvSpPr>
          <p:cNvPr id="100056" name="TextBox 9"/>
          <p:cNvSpPr txBox="1"/>
          <p:nvPr/>
        </p:nvSpPr>
        <p:spPr>
          <a:xfrm xmlns:a="http://schemas.openxmlformats.org/drawingml/2006/main">
            <a:off x="3318001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使用代表页验证组合。</a:t>
            </a:r>
          </a:p>
        </p:txBody>
      </p:sp>
      <p:sp>
        <p:nvSpPr>
          <p:cNvPr id="100057" name="TextBox 10"/>
          <p:cNvSpPr txBox="1"/>
          <p:nvPr/>
        </p:nvSpPr>
        <p:spPr>
          <a:xfrm xmlns:a="http://schemas.openxmlformats.org/drawingml/2006/main">
            <a:off x="6275988" y="1872000"/>
            <a:ext cx="2724001" cy="5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300" b="1">
                <a:solidFill>
                  <a:srgbClr val="002FA7"/>
                </a:solidFill>
                <a:latin typeface="Helvetica"/>
                <a:ea typeface="PingFang SC"/>
              </a:rPr>
              <a:t>03 · 锁定</a:t>
            </a:r>
          </a:p>
        </p:txBody>
      </p:sp>
      <p:sp>
        <p:nvSpPr>
          <p:cNvPr id="100058" name="TextBox 11"/>
          <p:cNvSpPr txBox="1"/>
          <p:nvPr/>
        </p:nvSpPr>
        <p:spPr>
          <a:xfrm xmlns:a="http://schemas.openxmlformats.org/drawingml/2006/main">
            <a:off x="6275988" y="2556000"/>
            <a:ext cx="2724001" cy="11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11111"/>
                </a:solidFill>
                <a:latin typeface="Helvetica"/>
                <a:ea typeface="PingFang SC"/>
              </a:rPr>
              <a:t>确认后生成完整双载体。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59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60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08 / 13</a:t>
            </a:r>
          </a:p>
        </p:txBody>
      </p:sp>
      <p:sp>
        <p:nvSpPr>
          <p:cNvPr id="100061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extBox 4"/>
          <p:cNvSpPr txBox="1"/>
          <p:nvPr/>
        </p:nvSpPr>
        <p:spPr>
          <a:xfrm xmlns:a="http://schemas.openxmlformats.org/drawingml/2006/main">
            <a:off x="360000" y="792000"/>
            <a:ext cx="8640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11111"/>
                </a:solidFill>
                <a:latin typeface="Helvetica"/>
                <a:ea typeface="PingFang SC"/>
              </a:rPr>
              <a:t>组件、语言与呈现相互独立</a:t>
            </a:r>
          </a:p>
        </p:txBody>
      </p:sp>
      <p:sp>
        <p:nvSpPr>
          <p:cNvPr id="100063" name="TextBox 5"/>
          <p:cNvSpPr/>
          <p:nvPr/>
        </p:nvSpPr>
        <p:spPr>
          <a:xfrm xmlns:a="http://schemas.openxmlformats.org/drawingml/2006/main">
            <a:off x="360000" y="1620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组件</a:t>
            </a:r>
          </a:p>
        </p:txBody>
      </p:sp>
      <p:sp>
        <p:nvSpPr>
          <p:cNvPr id="100064" name="TextBox 6"/>
          <p:cNvSpPr/>
          <p:nvPr/>
        </p:nvSpPr>
        <p:spPr>
          <a:xfrm xmlns:a="http://schemas.openxmlformats.org/drawingml/2006/main">
            <a:off x="4860000" y="1620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设计语言</a:t>
            </a:r>
          </a:p>
        </p:txBody>
      </p:sp>
      <p:sp>
        <p:nvSpPr>
          <p:cNvPr id="100065" name="TextBox 7"/>
          <p:cNvSpPr/>
          <p:nvPr/>
        </p:nvSpPr>
        <p:spPr>
          <a:xfrm xmlns:a="http://schemas.openxmlformats.org/drawingml/2006/main">
            <a:off x="360000" y="2574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视觉呈现</a:t>
            </a:r>
          </a:p>
        </p:txBody>
      </p:sp>
      <p:sp>
        <p:nvSpPr>
          <p:cNvPr id="100066" name="TextBox 8"/>
          <p:cNvSpPr/>
          <p:nvPr/>
        </p:nvSpPr>
        <p:spPr>
          <a:xfrm xmlns:a="http://schemas.openxmlformats.org/drawingml/2006/main">
            <a:off x="4860000" y="2574000"/>
            <a:ext cx="38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BBC0"/>
            </a:solidFill>
          </a:ln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11111"/>
                </a:solidFill>
                <a:latin typeface="Helvetica"/>
                <a:ea typeface="PingFang SC"/>
              </a:rPr>
              <a:t>页面成品</a:t>
            </a:r>
          </a:p>
        </p:txBody>
      </p:sp>
      <p:sp>
        <p:nvSpPr>
          <p:cNvPr id="100067" name="TextBox 9"/>
          <p:cNvSpPr txBox="1"/>
          <p:nvPr/>
        </p:nvSpPr>
        <p:spPr>
          <a:xfrm xmlns:a="http://schemas.openxmlformats.org/drawingml/2006/main">
            <a:off x="5040000" y="3780000"/>
            <a:ext cx="4320000" cy="9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component → artifact  语义</a:t>
            </a:r>
          </a:p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language → artifact  规则</a:t>
            </a:r>
          </a:p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presentation → artifact  表现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69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09 / 13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4"/>
          <p:cNvSpPr txBox="1"/>
          <p:nvPr/>
        </p:nvSpPr>
        <p:spPr>
          <a:xfrm xmlns:a="http://schemas.openxmlformats.org/drawingml/2006/main">
            <a:off x="360000" y="81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证据</a:t>
            </a:r>
          </a:p>
        </p:txBody>
      </p:sp>
      <p:sp>
        <p:nvSpPr>
          <p:cNvPr id="100072" name="TextBox 5"/>
          <p:cNvSpPr txBox="1"/>
          <p:nvPr/>
        </p:nvSpPr>
        <p:spPr>
          <a:xfrm xmlns:a="http://schemas.openxmlformats.org/drawingml/2006/main">
            <a:off x="360000" y="1080000"/>
            <a:ext cx="3420000" cy="70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11111"/>
                </a:solidFill>
                <a:latin typeface="Helvetica"/>
                <a:ea typeface="PingFang SC"/>
              </a:rPr>
              <a:t>素材承担一个问题</a:t>
            </a:r>
          </a:p>
        </p:txBody>
      </p:sp>
      <p:sp>
        <p:nvSpPr>
          <p:cNvPr id="100073" name="TextBox 6"/>
          <p:cNvSpPr txBox="1"/>
          <p:nvPr/>
        </p:nvSpPr>
        <p:spPr>
          <a:xfrm xmlns:a="http://schemas.openxmlformats.org/drawingml/2006/main">
            <a:off x="360000" y="1908000"/>
            <a:ext cx="342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图像应证明内容，</a:t>
            </a:r>
            <a:br/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而不是填满空白。</a:t>
            </a:r>
          </a:p>
        </p:txBody>
      </p:sp>
      <p:pic>
        <p:nvPicPr>
          <p:cNvPr id="100074" name="Picture 1" descr="包含文件、编辑器和预览区域的抽象工作台示意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3fd39715a4a62">
            <a:extLst>
              <a:ext uri="{96DAC541-7B7A-43D3-8B79-37D633B846F1}">
                <asvg:svgBlip xmlns:asvg="http://schemas.microsoft.com/office/drawing/2016/SVG/main" r:embed="R546a0114c77b4947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0000" y="900000"/>
            <a:ext cx="5220000" cy="3528000"/>
          </a:xfrm>
          <a:prstGeom xmlns:a="http://schemas.openxmlformats.org/drawingml/2006/main" prst="rect">
            <a:avLst/>
          </a:prstGeom>
        </p:spPr>
      </p:pic>
      <p:sp>
        <p:nvSpPr>
          <p:cNvPr id="100075" name="TextBox 7"/>
          <p:cNvSpPr txBox="1"/>
          <p:nvPr/>
        </p:nvSpPr>
        <p:spPr>
          <a:xfrm xmlns:a="http://schemas.openxmlformats.org/drawingml/2006/main">
            <a:off x="4140000" y="4500000"/>
            <a:ext cx="522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抽象工作台示意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100076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77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7F7F2"/>
                </a:solidFill>
                <a:latin typeface="Menlo"/>
                <a:ea typeface="Menlo"/>
              </a:rPr>
              <a:t>10 / 13</a:t>
            </a:r>
          </a:p>
        </p:txBody>
      </p:sp>
      <p:sp>
        <p:nvSpPr>
          <p:cNvPr id="100078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TextBox 4"/>
          <p:cNvSpPr txBox="1"/>
          <p:nvPr/>
        </p:nvSpPr>
        <p:spPr>
          <a:xfrm xmlns:a="http://schemas.openxmlformats.org/drawingml/2006/main">
            <a:off x="360000" y="540000"/>
            <a:ext cx="108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6200">
                <a:solidFill>
                  <a:srgbClr val="002FA7"/>
                </a:solidFill>
                <a:latin typeface="Helvetica"/>
                <a:ea typeface="PingFang SC"/>
              </a:rPr>
              <a:t>“</a:t>
            </a:r>
          </a:p>
        </p:txBody>
      </p:sp>
      <p:sp>
        <p:nvSpPr>
          <p:cNvPr id="100080" name="TextBox 5"/>
          <p:cNvSpPr/>
          <p:nvPr/>
        </p:nvSpPr>
        <p:spPr>
          <a:xfrm xmlns:a="http://schemas.openxmlformats.org/drawingml/2006/main">
            <a:off x="558000" y="1620000"/>
            <a:ext cx="28800" cy="23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02FA7"/>
              </a:solidFill>
              <a:latin typeface="Helvetica"/>
              <a:ea typeface="PingFang SC"/>
            </a:endParaRPr>
          </a:p>
        </p:txBody>
      </p:sp>
      <p:sp>
        <p:nvSpPr>
          <p:cNvPr id="100081" name="TextBox 6"/>
          <p:cNvSpPr txBox="1"/>
          <p:nvPr/>
        </p:nvSpPr>
        <p:spPr>
          <a:xfrm xmlns:a="http://schemas.openxmlformats.org/drawingml/2006/main">
            <a:off x="864000" y="1800000"/>
            <a:ext cx="8280000" cy="17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500" b="1">
                <a:solidFill>
                  <a:srgbClr val="F7F7F2"/>
                </a:solidFill>
                <a:latin typeface="Helvetica"/>
                <a:ea typeface="PingFang SC"/>
              </a:rPr>
              <a:t>视觉变化必须由内容关系承重。</a:t>
            </a:r>
          </a:p>
        </p:txBody>
      </p:sp>
      <p:sp>
        <p:nvSpPr>
          <p:cNvPr id="100082" name="TextBox 7"/>
          <p:cNvSpPr txBox="1"/>
          <p:nvPr/>
        </p:nvSpPr>
        <p:spPr>
          <a:xfrm xmlns:a="http://schemas.openxmlformats.org/drawingml/2006/main">
            <a:off x="864000" y="4176000"/>
            <a:ext cx="4320000" cy="3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507-ppt 设计原则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83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84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11 / 13</a:t>
            </a:r>
          </a:p>
        </p:txBody>
      </p:sp>
      <p:sp>
        <p:nvSpPr>
          <p:cNvPr id="100085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TextBox 4"/>
          <p:cNvSpPr txBox="1"/>
          <p:nvPr/>
        </p:nvSpPr>
        <p:spPr>
          <a:xfrm xmlns:a="http://schemas.openxmlformats.org/drawingml/2006/main">
            <a:off x="4680000" y="1368000"/>
            <a:ext cx="4680000" cy="6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11111"/>
                </a:solidFill>
                <a:latin typeface="Helvetica"/>
                <a:ea typeface="PingFang SC"/>
              </a:rPr>
              <a:t>语义叶组件</a:t>
            </a:r>
          </a:p>
        </p:txBody>
      </p:sp>
      <p:sp>
        <p:nvSpPr>
          <p:cNvPr id="100087" name="TextBox 5"/>
          <p:cNvSpPr txBox="1"/>
          <p:nvPr/>
        </p:nvSpPr>
        <p:spPr>
          <a:xfrm xmlns:a="http://schemas.openxmlformats.org/drawingml/2006/main">
            <a:off x="360000" y="1152000"/>
            <a:ext cx="3780000" cy="19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200" b="1">
                <a:solidFill>
                  <a:srgbClr val="002FA7"/>
                </a:solidFill>
                <a:latin typeface="Helvetica"/>
                <a:ea typeface="PingFang SC"/>
              </a:rPr>
              <a:t>13</a:t>
            </a:r>
          </a:p>
        </p:txBody>
      </p:sp>
      <p:sp>
        <p:nvSpPr>
          <p:cNvPr id="100088" name="TextBox 6"/>
          <p:cNvSpPr txBox="1"/>
          <p:nvPr/>
        </p:nvSpPr>
        <p:spPr>
          <a:xfrm xmlns:a="http://schemas.openxmlformats.org/drawingml/2006/main">
            <a:off x="360000" y="3240000"/>
            <a:ext cx="3600000" cy="4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11111"/>
                </a:solidFill>
                <a:latin typeface="Helvetica"/>
                <a:ea typeface="PingFang SC"/>
              </a:rPr>
              <a:t>首批语义叶组件</a:t>
            </a:r>
          </a:p>
        </p:txBody>
      </p:sp>
      <p:sp>
        <p:nvSpPr>
          <p:cNvPr id="100089" name="TextBox 7"/>
          <p:cNvSpPr txBox="1"/>
          <p:nvPr/>
        </p:nvSpPr>
        <p:spPr>
          <a:xfrm xmlns:a="http://schemas.openxmlformats.org/drawingml/2006/main">
            <a:off x="4680000" y="2160000"/>
            <a:ext cx="432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数据证据保留 metric、chart、table 三个子类型。</a:t>
            </a:r>
          </a:p>
        </p:txBody>
      </p:sp>
      <p:sp>
        <p:nvSpPr>
          <p:cNvPr id="100090" name="TextBox 8"/>
          <p:cNvSpPr txBox="1"/>
          <p:nvPr/>
        </p:nvSpPr>
        <p:spPr>
          <a:xfrm xmlns:a="http://schemas.openxmlformats.org/drawingml/2006/main">
            <a:off x="4680000" y="4248000"/>
            <a:ext cx="4320000" cy="34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507-ppt registry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91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92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12 / 13</a:t>
            </a:r>
          </a:p>
        </p:txBody>
      </p:sp>
      <p:sp>
        <p:nvSpPr>
          <p:cNvPr id="100093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TextBox 4"/>
          <p:cNvSpPr txBox="1"/>
          <p:nvPr/>
        </p:nvSpPr>
        <p:spPr>
          <a:xfrm xmlns:a="http://schemas.openxmlformats.org/drawingml/2006/main">
            <a:off x="360000" y="864000"/>
            <a:ext cx="3312000" cy="91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六种语言，</a:t>
            </a:r>
            <a:br/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八类呈现</a:t>
            </a:r>
          </a:p>
        </p:txBody>
      </p:sp>
      <p:graphicFrame>
        <p:nvGraphicFramePr>
          <p:cNvPr id="100095" name="Chart 1"/>
          <p:cNvGraphicFramePr/>
          <p:nvPr/>
        </p:nvGraphicFramePr>
        <p:xfrm>
          <a:off xmlns:a="http://schemas.openxmlformats.org/drawingml/2006/main" x="3744000" y="1260000"/>
          <a:ext xmlns:a="http://schemas.openxmlformats.org/drawingml/2006/main" cx="5832000" cy="331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1785eaa3454697"/>
          </a:graphicData>
        </a:graphic>
      </p:graphicFrame>
      <p:sp>
        <p:nvSpPr>
          <p:cNvPr id="100096" name="TextBox 5"/>
          <p:cNvSpPr txBox="1"/>
          <p:nvPr/>
        </p:nvSpPr>
        <p:spPr>
          <a:xfrm xmlns:a="http://schemas.openxmlformats.org/drawingml/2006/main">
            <a:off x="360000" y="4608000"/>
            <a:ext cx="3312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当前 507-ppt 三轴注册表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97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98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13 / 13</a:t>
            </a:r>
          </a:p>
        </p:txBody>
      </p:sp>
      <p:sp>
        <p:nvSpPr>
          <p:cNvPr id="100099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TextBox 4"/>
          <p:cNvSpPr txBox="1"/>
          <p:nvPr/>
        </p:nvSpPr>
        <p:spPr>
          <a:xfrm xmlns:a="http://schemas.openxmlformats.org/drawingml/2006/main">
            <a:off x="576000" y="756000"/>
            <a:ext cx="8640000" cy="6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六种设计语言当前能力</a:t>
            </a:r>
          </a:p>
        </p:txBody>
      </p:sp>
      <p:graphicFrame>
        <p:nvGraphicFramePr>
          <p:cNvPr id="100101" name="Table 1"/>
          <p:cNvGraphicFramePr/>
          <p:nvPr/>
        </p:nvGraphicFramePr>
        <p:xfrm>
          <a:off xmlns:a="http://schemas.openxmlformats.org/drawingml/2006/main" x="576000" y="1440000"/>
          <a:ext xmlns:a="http://schemas.openxmlformats.org/drawingml/2006/main" cx="8640000" cy="3456000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72000"/>
                <a:gridCol w="3384000"/>
                <a:gridCol w="3384000"/>
              </a:tblGrid>
              <a:tr h="493714"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方向</a:t>
                      </a:r>
                    </a:p>
                  </a:txBody>
                  <a:tcPr marL="57600" marR="57600" marT="57600" marB="57600">
                    <a:lnR>
                      <a:noFill/>
                    </a:lnR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状态</a:t>
                      </a:r>
                    </a:p>
                  </a:txBody>
                  <a:tcPr marL="57600" marR="57600" marT="57600" marB="5760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当前能力</a:t>
                      </a:r>
                    </a:p>
                  </a:txBody>
                  <a:tcPr marL="57600" marR="57600" marT="57600" marB="57600">
                    <a:lnL>
                      <a:noFill/>
                    </a:lnL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Swiss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网格与层级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Magazine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编辑栅格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Cobalt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产品模块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Clay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温暖叙事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Forest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研究层级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Noir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强声明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102" name="TextBox 5"/>
          <p:cNvSpPr txBox="1"/>
          <p:nvPr/>
        </p:nvSpPr>
        <p:spPr>
          <a:xfrm xmlns:a="http://schemas.openxmlformats.org/drawingml/2006/main">
            <a:off x="576000" y="5076000"/>
            <a:ext cx="72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5F646B"/>
                </a:solidFill>
                <a:latin typeface="Menlo"/>
                <a:ea typeface="Menlo"/>
              </a:rPr>
              <a:t>当前 507-ppt registry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2026-08-23T16:28:55Z</dcterms:created>
  <cp:lastModifiedBy>OfficeCLI</cp:lastModifiedBy>
  <dcterms:modified xsi:type="dcterms:W3CDTF">2026-08-23T16:28:55Z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2026-08-23T16:29:19Z</vt:lpwstr>
  </op:property>
</op:Properties>
</file>