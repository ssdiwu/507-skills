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svg" ContentType="image/svg+xml"/>
  <Default Extension="png" ContentType="image/png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notesSlides/notesSlide2.xml" ContentType="application/vnd.openxmlformats-officedocument.presentationml.notes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95bbdbc0a8694dc9" /><Relationship Type="http://schemas.openxmlformats.org/package/2006/relationships/metadata/core-properties" Target="/docProps/core.xml" Id="R2c0045ce4f214f80" /><Relationship Type="http://schemas.openxmlformats.org/officeDocument/2006/relationships/extended-properties" Target="/docProps/app.xml" Id="Rb7ad64d7cf144ad3" /><Relationship Type="http://schemas.openxmlformats.org/officeDocument/2006/relationships/custom-properties" Target="/docProps/custom.xml" Id="Rb106c71d0dc94371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9a5217c6ec6c45bb"/>
  </p:notesMasterIdLst>
  <p:sldIdLst>
    <p:sldId id="256" r:id="Rfc534a876ec547bb"/>
    <p:sldId id="257" r:id="R206b3b507b9f4f54"/>
    <p:sldId id="258" r:id="Rcdf251a2d13b4367"/>
    <p:sldId id="259" r:id="R8ddd2cb376604568"/>
    <p:sldId id="260" r:id="Rf8e428993d0a4b28"/>
    <p:sldId id="261" r:id="R382b5a445f6c4d0e"/>
    <p:sldId id="262" r:id="R7a9fb9bff1924979"/>
    <p:sldId id="263" r:id="R31f0fad27aa84c59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fc534a876ec547bb" /><Relationship Type="http://schemas.openxmlformats.org/officeDocument/2006/relationships/slide" Target="/ppt/slides/slide2.xml" Id="R206b3b507b9f4f54" /><Relationship Type="http://schemas.openxmlformats.org/officeDocument/2006/relationships/slide" Target="/ppt/slides/slide3.xml" Id="Rcdf251a2d13b4367" /><Relationship Type="http://schemas.openxmlformats.org/officeDocument/2006/relationships/slide" Target="/ppt/slides/slide4.xml" Id="R8ddd2cb376604568" /><Relationship Type="http://schemas.openxmlformats.org/officeDocument/2006/relationships/slide" Target="/ppt/slides/slide5.xml" Id="Rf8e428993d0a4b28" /><Relationship Type="http://schemas.openxmlformats.org/officeDocument/2006/relationships/slide" Target="/ppt/slides/slide6.xml" Id="R382b5a445f6c4d0e" /><Relationship Type="http://schemas.openxmlformats.org/officeDocument/2006/relationships/slide" Target="/ppt/slides/slide7.xml" Id="R7a9fb9bff1924979" /><Relationship Type="http://schemas.openxmlformats.org/officeDocument/2006/relationships/slide" Target="/ppt/slides/slide8.xml" Id="R31f0fad27aa84c59" /><Relationship Type="http://schemas.openxmlformats.org/officeDocument/2006/relationships/notesMaster" Target="/ppt/notesMasters/notesMaster1.xml" Id="R9a5217c6ec6c45b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ba6552ef842a48af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等线"/>
        <a:cs typeface=""/>
      </a:majorFont>
      <a:minorFont>
        <a:latin typeface="Calibri"/>
        <a:ea typeface="等线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05be8f07d0084503" /><Relationship Type="http://schemas.openxmlformats.org/officeDocument/2006/relationships/slide" Target="/ppt/slides/slide1.xml" Id="Rb95e3519785f450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870f345d09734087" /><Relationship Type="http://schemas.openxmlformats.org/officeDocument/2006/relationships/slide" Target="/ppt/slides/slide2.xml" Id="R97fe7855c7f14a8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0a657ac9d2384916" /><Relationship Type="http://schemas.openxmlformats.org/officeDocument/2006/relationships/slide" Target="/ppt/slides/slide3.xml" Id="Rf7b7bd565e7442a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cc321e43feef4b57" /><Relationship Type="http://schemas.openxmlformats.org/officeDocument/2006/relationships/slide" Target="/ppt/slides/slide4.xml" Id="R21f0325c03f14fb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51148e3e3a1845be" /><Relationship Type="http://schemas.openxmlformats.org/officeDocument/2006/relationships/slide" Target="/ppt/slides/slide5.xml" Id="Raa82598ea30f470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8da855c9813c46f8" /><Relationship Type="http://schemas.openxmlformats.org/officeDocument/2006/relationships/slide" Target="/ppt/slides/slide6.xml" Id="Rfb360376a7774d4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99f3dcb55eec496a" /><Relationship Type="http://schemas.openxmlformats.org/officeDocument/2006/relationships/slide" Target="/ppt/slides/slide7.xml" Id="R35bbee94fd4d4eb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16eb18a7d051481f" /><Relationship Type="http://schemas.openxmlformats.org/officeDocument/2006/relationships/slide" Target="/ppt/slides/slide8.xml" Id="Rc1506d900c7c452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zh-CN"/>
              <a:t>验证 type-led。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zh-CN"/>
              <a:t>验证 panel-led。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zh-CN"/>
              <a:t>验证 data-led 与原生 chart。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zh-CN"/>
              <a:t>验证 schematic-led。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zh-CN"/>
              <a:t>验证 photo-led。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zh-CN"/>
              <a:t>验证 ui-product-led。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zh-CN"/>
              <a:t>验证 editorial-print-led 的 PPTX 适配。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zh-CN"/>
              <a:t>验证 hand-drawn-explainer 的 PPTX 适配。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6a789e30c1467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20c052304f40e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f19999d97541a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cea3d4f2aa6417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f8a5faaf3f4a6a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237a1079c2704eb1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6482e6a6f14580" /><Relationship Type="http://schemas.openxmlformats.org/officeDocument/2006/relationships/notesSlide" Target="/ppt/notesSlides/notesSlide1.xml" Id="R00e96d7d57324c5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2ef59553a24491" /><Relationship Type="http://schemas.openxmlformats.org/officeDocument/2006/relationships/notesSlide" Target="/ppt/notesSlides/notesSlide2.xml" Id="R647b5023c804412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4cb962c5cd4475" /><Relationship Type="http://schemas.openxmlformats.org/officeDocument/2006/relationships/chart" Target="/ppt/slides/charts/chart1.xml" Id="R2c3b8dacfa384528" /><Relationship Type="http://schemas.openxmlformats.org/officeDocument/2006/relationships/notesSlide" Target="/ppt/notesSlides/notesSlide3.xml" Id="R9dc40163cc9c4d3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4886046a234978" /><Relationship Type="http://schemas.openxmlformats.org/officeDocument/2006/relationships/notesSlide" Target="/ppt/notesSlides/notesSlide4.xml" Id="R5b661c31048b4b3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349f02f50943c3" /><Relationship Type="http://schemas.openxmlformats.org/officeDocument/2006/relationships/image" Target="/ppt/media/image.svg" Id="Rb76336e57a8142fe" /><Relationship Type="http://schemas.openxmlformats.org/officeDocument/2006/relationships/image" Target="/ppt/media/image.png" Id="R4ca19983a3194ec5" /><Relationship Type="http://schemas.openxmlformats.org/officeDocument/2006/relationships/notesSlide" Target="/ppt/notesSlides/notesSlide5.xml" Id="Rb29e00b76d154e0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20d205e43c4dfa" /><Relationship Type="http://schemas.openxmlformats.org/officeDocument/2006/relationships/image" Target="/ppt/media/image2.svg" Id="R4c0b84af108b48f6" /><Relationship Type="http://schemas.openxmlformats.org/officeDocument/2006/relationships/image" Target="/ppt/media/image2.png" Id="R12d79b306c0343ae" /><Relationship Type="http://schemas.openxmlformats.org/officeDocument/2006/relationships/image" Target="/ppt/media/image3.svg" Id="R65890d58f7ba4236" /><Relationship Type="http://schemas.openxmlformats.org/officeDocument/2006/relationships/image" Target="/ppt/media/image3.png" Id="R43f539d542e941c9" /><Relationship Type="http://schemas.openxmlformats.org/officeDocument/2006/relationships/image" Target="/ppt/media/image4.svg" Id="R35083e8d62824733" /><Relationship Type="http://schemas.openxmlformats.org/officeDocument/2006/relationships/image" Target="/ppt/media/image4.png" Id="R2b48b2d4aa524177" /><Relationship Type="http://schemas.openxmlformats.org/officeDocument/2006/relationships/notesSlide" Target="/ppt/notesSlides/notesSlide6.xml" Id="R73fcc501895e405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bcd70b062a43ea" /><Relationship Type="http://schemas.openxmlformats.org/officeDocument/2006/relationships/notesSlide" Target="/ppt/notesSlides/notesSlide7.xml" Id="Ra5fe3c807682402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1f7f7e9bf04b4c" /><Relationship Type="http://schemas.openxmlformats.org/officeDocument/2006/relationships/notesSlide" Target="/ppt/notesSlides/notesSlide8.xml" Id="R31e8e62d33cc4b23" /></Relationships>
</file>

<file path=ppt/slides/charts/chart1.xml><?xml version="1.0" encoding="utf-8"?>
<c:chartSpace xmlns:c="http://schemas.openxmlformats.org/drawingml/2006/chart">
  <c:date1904 val="0"/>
  <c:chart>
    <c:plotArea>
      <c:layout/>
      <c:barChart>
        <c:barDir val="bar"/>
        <c:grouping val="clustered"/>
        <c:varyColors val="0"/>
        <c:ser>
          <c:idx val="0"/>
          <c:order val="0"/>
          <c:tx>
            <c:v>原生支持</c:v>
          </c:tx>
          <c:spPr>
            <a:solidFill xmlns:a="http://schemas.openxmlformats.org/drawingml/2006/main">
              <a:srgbClr val="002FA7"/>
            </a:solidFill>
          </c:spPr>
          <c:invertIfNegative val="0"/>
          <c:cat>
            <c:strLit>
              <c:ptCount val="2"/>
              <c:pt idx="0">
                <c:v>PPTX</c:v>
              </c:pt>
              <c:pt idx="1">
                <c:v>HTML</c:v>
              </c:pt>
            </c:strLit>
          </c:cat>
          <c:val>
            <c:numLit>
              <c:formatCode>General</c:formatCode>
              <c:ptCount val="2"/>
              <c:pt idx="0">
                <c:v>2</c:v>
              </c:pt>
              <c:pt idx="1">
                <c:v>2</c:v>
              </c:pt>
            </c:numLit>
          </c:val>
        </c:ser>
        <c:ser>
          <c:idx val="1"/>
          <c:order val="1"/>
          <c:tx>
            <c:v>适配支持</c:v>
          </c:tx>
          <c:spPr>
            <a:solidFill xmlns:a="http://schemas.openxmlformats.org/drawingml/2006/main">
              <a:srgbClr val="111111"/>
            </a:solidFill>
          </c:spPr>
          <c:invertIfNegative val="0"/>
          <c:cat>
            <c:strLit>
              <c:ptCount val="2"/>
              <c:pt idx="0">
                <c:v>PPTX</c:v>
              </c:pt>
              <c:pt idx="1">
                <c:v>HTML</c:v>
              </c:pt>
            </c:strLit>
          </c:cat>
          <c:val>
            <c:numLit>
              <c:formatCode>General</c:formatCode>
              <c:ptCount val="2"/>
              <c:pt idx="0">
                <c:v>2</c:v>
              </c:pt>
              <c:pt idx="1">
                <c:v>0</c:v>
              </c:pt>
            </c:numLit>
          </c:val>
        </c:ser>
        <c:dLbls>
          <c:showLegendKey val="0"/>
          <c:showVal val="1"/>
          <c:showCatName val="0"/>
          <c:showSerName val="0"/>
          <c:showPercent val="0"/>
        </c:dLbls>
        <c:gapWidth val="150"/>
        <c:axId val="1"/>
        <c:axId val="2"/>
      </c:barChart>
      <c:catAx>
        <c:axId val="1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5F646B"/>
                </a:solidFill>
                <a:latin typeface="Helvetica"/>
                <a:ea typeface="Helvetica"/>
              </a:defRPr>
            </a:pPr>
          </a:p>
        </c:txPr>
        <c:crossAx val="2"/>
        <c:crosses val="autoZero"/>
        <c:auto val="1"/>
        <c:lblAlgn val="ctr"/>
        <c:lblOffset val="100"/>
      </c:catAx>
      <c:valAx>
        <c:axId val="2"/>
        <c:scaling>
          <c:orientation val="minMax"/>
          <c:max val="3"/>
          <c:min val="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5F646B"/>
                </a:solidFill>
                <a:latin typeface="Helvetica"/>
                <a:ea typeface="Helvetica"/>
              </a:defRPr>
            </a:pPr>
          </a:p>
        </c:txPr>
        <c:crossAx val="1"/>
        <c:crosses val="autoZero"/>
        <c:crossBetween val="between"/>
      </c:valAx>
    </c:plotArea>
    <c:legend>
      <c:legendPos val="b"/>
      <c:overlay val="0"/>
    </c:legend>
    <c:plotVisOnly val="1"/>
    <c:dispBlanksAs val="gap"/>
  </c:chart>
  <c:spPr>
    <a:solidFill xmlns:a="http://schemas.openxmlformats.org/drawingml/2006/main">
      <a:srgbClr val="F7F7F2"/>
    </a:solidFill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360000" y="180000"/>
            <a:ext cx="576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5F646B"/>
                </a:solidFill>
                <a:latin typeface="Menlo"/>
                <a:ea typeface="Menlo"/>
              </a:rPr>
              <a:t>八类视觉呈现压测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8640000" y="180000"/>
            <a:ext cx="108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5F646B"/>
                </a:solidFill>
                <a:latin typeface="Menlo"/>
                <a:ea typeface="Menlo"/>
              </a:rPr>
              <a:t>01 / 08</a:t>
            </a:r>
          </a:p>
        </p:txBody>
      </p:sp>
      <p:sp>
        <p:nvSpPr>
          <p:cNvPr id="100002" name="TextBox 3"/>
          <p:cNvSpPr/>
          <p:nvPr/>
        </p:nvSpPr>
        <p:spPr>
          <a:xfrm xmlns:a="http://schemas.openxmlformats.org/drawingml/2006/main">
            <a:off x="360000" y="486000"/>
            <a:ext cx="792000" cy="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FA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360000" y="1152000"/>
            <a:ext cx="4320000" cy="37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002FA7"/>
                </a:solidFill>
                <a:latin typeface="Menlo"/>
                <a:ea typeface="Menlo"/>
              </a:rPr>
              <a:t>TYPE</a:t>
            </a:r>
          </a:p>
        </p:txBody>
      </p:sp>
      <p:sp>
        <p:nvSpPr>
          <p:cNvPr id="100004" name="TextBox 5"/>
          <p:cNvSpPr txBox="1"/>
          <p:nvPr/>
        </p:nvSpPr>
        <p:spPr>
          <a:xfrm xmlns:a="http://schemas.openxmlformats.org/drawingml/2006/main">
            <a:off x="360000" y="1584000"/>
            <a:ext cx="8820000" cy="109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4400" b="1">
                <a:solidFill>
                  <a:srgbClr val="111111"/>
                </a:solidFill>
                <a:latin typeface="Helvetica"/>
                <a:ea typeface="PingFang SC"/>
              </a:rPr>
              <a:t>文字本身就是主视觉</a:t>
            </a:r>
          </a:p>
        </p:txBody>
      </p:sp>
      <p:sp>
        <p:nvSpPr>
          <p:cNvPr id="100005" name="TextBox 6"/>
          <p:cNvSpPr txBox="1"/>
          <p:nvPr/>
        </p:nvSpPr>
        <p:spPr>
          <a:xfrm xmlns:a="http://schemas.openxmlformats.org/drawingml/2006/main">
            <a:off x="360000" y="2880000"/>
            <a:ext cx="6840000" cy="66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2100">
                <a:solidFill>
                  <a:srgbClr val="5F646B"/>
                </a:solidFill>
                <a:latin typeface="Helvetica"/>
                <a:ea typeface="PingFang SC"/>
              </a:rPr>
              <a:t>层级、留白与单一强调共同承重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/>
      <p:sp>
        <p:nvSpPr>
          <p:cNvPr id="100006" name="TextBox 1"/>
          <p:cNvSpPr txBox="1"/>
          <p:nvPr/>
        </p:nvSpPr>
        <p:spPr>
          <a:xfrm xmlns:a="http://schemas.openxmlformats.org/drawingml/2006/main">
            <a:off x="360000" y="180000"/>
            <a:ext cx="576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5F646B"/>
                </a:solidFill>
                <a:latin typeface="Menlo"/>
                <a:ea typeface="Menlo"/>
              </a:rPr>
              <a:t>八类视觉呈现压测</a:t>
            </a:r>
          </a:p>
        </p:txBody>
      </p:sp>
      <p:sp>
        <p:nvSpPr>
          <p:cNvPr id="100007" name="TextBox 2"/>
          <p:cNvSpPr txBox="1"/>
          <p:nvPr/>
        </p:nvSpPr>
        <p:spPr>
          <a:xfrm xmlns:a="http://schemas.openxmlformats.org/drawingml/2006/main">
            <a:off x="8640000" y="180000"/>
            <a:ext cx="108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5F646B"/>
                </a:solidFill>
                <a:latin typeface="Menlo"/>
                <a:ea typeface="Menlo"/>
              </a:rPr>
              <a:t>02 / 08</a:t>
            </a:r>
          </a:p>
        </p:txBody>
      </p:sp>
      <p:sp>
        <p:nvSpPr>
          <p:cNvPr id="100008" name="TextBox 3"/>
          <p:cNvSpPr/>
          <p:nvPr/>
        </p:nvSpPr>
        <p:spPr>
          <a:xfrm xmlns:a="http://schemas.openxmlformats.org/drawingml/2006/main">
            <a:off x="360000" y="486000"/>
            <a:ext cx="792000" cy="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FA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09" name="TextBox 4"/>
          <p:cNvSpPr txBox="1"/>
          <p:nvPr/>
        </p:nvSpPr>
        <p:spPr>
          <a:xfrm xmlns:a="http://schemas.openxmlformats.org/drawingml/2006/main">
            <a:off x="360000" y="792000"/>
            <a:ext cx="8640000" cy="59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2900" b="1">
                <a:solidFill>
                  <a:srgbClr val="111111"/>
                </a:solidFill>
                <a:latin typeface="Helvetica"/>
                <a:ea typeface="PingFang SC"/>
              </a:rPr>
              <a:t>面板服务分组</a:t>
            </a:r>
          </a:p>
        </p:txBody>
      </p:sp>
      <p:sp>
        <p:nvSpPr>
          <p:cNvPr id="100010" name="TextBox 5"/>
          <p:cNvSpPr/>
          <p:nvPr/>
        </p:nvSpPr>
        <p:spPr>
          <a:xfrm xmlns:a="http://schemas.openxmlformats.org/drawingml/2006/main">
            <a:off x="360000" y="1620000"/>
            <a:ext cx="2724001" cy="264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B8BBC0"/>
            </a:solidFill>
          </a:ln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endParaRPr lang="en-US" sz="100">
              <a:solidFill>
                <a:srgbClr val="111111"/>
              </a:solidFill>
              <a:latin typeface="Helvetica"/>
              <a:ea typeface="PingFang SC"/>
            </a:endParaRPr>
          </a:p>
        </p:txBody>
      </p:sp>
      <p:sp>
        <p:nvSpPr>
          <p:cNvPr id="100011" name="TextBox 6"/>
          <p:cNvSpPr txBox="1"/>
          <p:nvPr/>
        </p:nvSpPr>
        <p:spPr>
          <a:xfrm xmlns:a="http://schemas.openxmlformats.org/drawingml/2006/main">
            <a:off x="360000" y="1872000"/>
            <a:ext cx="2724001" cy="5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002FA7"/>
                </a:solidFill>
                <a:latin typeface="Helvetica"/>
                <a:ea typeface="PingFang SC"/>
              </a:rPr>
              <a:t>输入</a:t>
            </a:r>
          </a:p>
        </p:txBody>
      </p:sp>
      <p:sp>
        <p:nvSpPr>
          <p:cNvPr id="100012" name="TextBox 7"/>
          <p:cNvSpPr txBox="1"/>
          <p:nvPr/>
        </p:nvSpPr>
        <p:spPr>
          <a:xfrm xmlns:a="http://schemas.openxmlformats.org/drawingml/2006/main">
            <a:off x="360000" y="2556000"/>
            <a:ext cx="2724001" cy="11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111111"/>
                </a:solidFill>
                <a:latin typeface="Helvetica"/>
                <a:ea typeface="PingFang SC"/>
              </a:rPr>
              <a:t>保持内容边界。</a:t>
            </a:r>
          </a:p>
        </p:txBody>
      </p:sp>
      <p:sp>
        <p:nvSpPr>
          <p:cNvPr id="100013" name="TextBox 8"/>
          <p:cNvSpPr/>
          <p:nvPr/>
        </p:nvSpPr>
        <p:spPr>
          <a:xfrm xmlns:a="http://schemas.openxmlformats.org/drawingml/2006/main">
            <a:off x="3318001" y="1620000"/>
            <a:ext cx="2724001" cy="264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B8BBC0"/>
            </a:solidFill>
          </a:ln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endParaRPr lang="en-US" sz="100">
              <a:solidFill>
                <a:srgbClr val="111111"/>
              </a:solidFill>
              <a:latin typeface="Helvetica"/>
              <a:ea typeface="PingFang SC"/>
            </a:endParaRPr>
          </a:p>
        </p:txBody>
      </p:sp>
      <p:sp>
        <p:nvSpPr>
          <p:cNvPr id="100014" name="TextBox 9"/>
          <p:cNvSpPr txBox="1"/>
          <p:nvPr/>
        </p:nvSpPr>
        <p:spPr>
          <a:xfrm xmlns:a="http://schemas.openxmlformats.org/drawingml/2006/main">
            <a:off x="3318001" y="1872000"/>
            <a:ext cx="2724001" cy="5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002FA7"/>
                </a:solidFill>
                <a:latin typeface="Helvetica"/>
                <a:ea typeface="PingFang SC"/>
              </a:rPr>
              <a:t>处理</a:t>
            </a:r>
          </a:p>
        </p:txBody>
      </p:sp>
      <p:sp>
        <p:nvSpPr>
          <p:cNvPr id="100015" name="TextBox 10"/>
          <p:cNvSpPr txBox="1"/>
          <p:nvPr/>
        </p:nvSpPr>
        <p:spPr>
          <a:xfrm xmlns:a="http://schemas.openxmlformats.org/drawingml/2006/main">
            <a:off x="3318001" y="2556000"/>
            <a:ext cx="2724001" cy="11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111111"/>
                </a:solidFill>
                <a:latin typeface="Helvetica"/>
                <a:ea typeface="PingFang SC"/>
              </a:rPr>
              <a:t>用容器表达分组。</a:t>
            </a:r>
          </a:p>
        </p:txBody>
      </p:sp>
      <p:sp>
        <p:nvSpPr>
          <p:cNvPr id="100016" name="TextBox 11"/>
          <p:cNvSpPr/>
          <p:nvPr/>
        </p:nvSpPr>
        <p:spPr>
          <a:xfrm xmlns:a="http://schemas.openxmlformats.org/drawingml/2006/main">
            <a:off x="6275988" y="1620000"/>
            <a:ext cx="2724001" cy="264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B8BBC0"/>
            </a:solidFill>
          </a:ln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endParaRPr lang="en-US" sz="100">
              <a:solidFill>
                <a:srgbClr val="111111"/>
              </a:solidFill>
              <a:latin typeface="Helvetica"/>
              <a:ea typeface="PingFang SC"/>
            </a:endParaRPr>
          </a:p>
        </p:txBody>
      </p:sp>
      <p:sp>
        <p:nvSpPr>
          <p:cNvPr id="100017" name="TextBox 12"/>
          <p:cNvSpPr txBox="1"/>
          <p:nvPr/>
        </p:nvSpPr>
        <p:spPr>
          <a:xfrm xmlns:a="http://schemas.openxmlformats.org/drawingml/2006/main">
            <a:off x="6275988" y="1872000"/>
            <a:ext cx="2724001" cy="5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002FA7"/>
                </a:solidFill>
                <a:latin typeface="Helvetica"/>
                <a:ea typeface="PingFang SC"/>
              </a:rPr>
              <a:t>输出</a:t>
            </a:r>
          </a:p>
        </p:txBody>
      </p:sp>
      <p:sp>
        <p:nvSpPr>
          <p:cNvPr id="100018" name="TextBox 13"/>
          <p:cNvSpPr txBox="1"/>
          <p:nvPr/>
        </p:nvSpPr>
        <p:spPr>
          <a:xfrm xmlns:a="http://schemas.openxmlformats.org/drawingml/2006/main">
            <a:off x="6275988" y="2556000"/>
            <a:ext cx="2724001" cy="11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111111"/>
                </a:solidFill>
                <a:latin typeface="Helvetica"/>
                <a:ea typeface="PingFang SC"/>
              </a:rPr>
              <a:t>保留阅读顺序。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/>
      <p:sp>
        <p:nvSpPr>
          <p:cNvPr id="100019" name="TextBox 1"/>
          <p:cNvSpPr txBox="1"/>
          <p:nvPr/>
        </p:nvSpPr>
        <p:spPr>
          <a:xfrm xmlns:a="http://schemas.openxmlformats.org/drawingml/2006/main">
            <a:off x="360000" y="180000"/>
            <a:ext cx="576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5F646B"/>
                </a:solidFill>
                <a:latin typeface="Menlo"/>
                <a:ea typeface="Menlo"/>
              </a:rPr>
              <a:t>八类视觉呈现压测</a:t>
            </a:r>
          </a:p>
        </p:txBody>
      </p:sp>
      <p:sp>
        <p:nvSpPr>
          <p:cNvPr id="100020" name="TextBox 2"/>
          <p:cNvSpPr txBox="1"/>
          <p:nvPr/>
        </p:nvSpPr>
        <p:spPr>
          <a:xfrm xmlns:a="http://schemas.openxmlformats.org/drawingml/2006/main">
            <a:off x="8640000" y="180000"/>
            <a:ext cx="108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5F646B"/>
                </a:solidFill>
                <a:latin typeface="Menlo"/>
                <a:ea typeface="Menlo"/>
              </a:rPr>
              <a:t>03 / 08</a:t>
            </a:r>
          </a:p>
        </p:txBody>
      </p:sp>
      <p:sp>
        <p:nvSpPr>
          <p:cNvPr id="100021" name="TextBox 3"/>
          <p:cNvSpPr/>
          <p:nvPr/>
        </p:nvSpPr>
        <p:spPr>
          <a:xfrm xmlns:a="http://schemas.openxmlformats.org/drawingml/2006/main">
            <a:off x="360000" y="486000"/>
            <a:ext cx="792000" cy="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FA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22" name="TextBox 4"/>
          <p:cNvSpPr txBox="1"/>
          <p:nvPr/>
        </p:nvSpPr>
        <p:spPr>
          <a:xfrm xmlns:a="http://schemas.openxmlformats.org/drawingml/2006/main">
            <a:off x="360000" y="864000"/>
            <a:ext cx="3312000" cy="91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2700" b="1">
                <a:solidFill>
                  <a:srgbClr val="111111"/>
                </a:solidFill>
                <a:latin typeface="Helvetica"/>
                <a:ea typeface="PingFang SC"/>
              </a:rPr>
              <a:t>数据关系保持可编辑</a:t>
            </a:r>
          </a:p>
        </p:txBody>
      </p:sp>
      <p:graphicFrame>
        <p:nvGraphicFramePr>
          <p:cNvPr id="100023" name="Chart 1"/>
          <p:cNvGraphicFramePr/>
          <p:nvPr/>
        </p:nvGraphicFramePr>
        <p:xfrm>
          <a:off xmlns:a="http://schemas.openxmlformats.org/drawingml/2006/main" x="3744000" y="1260000"/>
          <a:ext xmlns:a="http://schemas.openxmlformats.org/drawingml/2006/main" cx="5832000" cy="3312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c3b8dacfa384528"/>
          </a:graphicData>
        </a:graphic>
      </p:graphicFrame>
      <p:sp>
        <p:nvSpPr>
          <p:cNvPr id="100024" name="TextBox 5"/>
          <p:cNvSpPr txBox="1"/>
          <p:nvPr/>
        </p:nvSpPr>
        <p:spPr>
          <a:xfrm xmlns:a="http://schemas.openxmlformats.org/drawingml/2006/main">
            <a:off x="360000" y="4608000"/>
            <a:ext cx="3312000" cy="37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5F646B"/>
                </a:solidFill>
                <a:latin typeface="Menlo"/>
                <a:ea typeface="Menlo"/>
              </a:rPr>
              <a:t>507-ppt presentation registry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/>
      <p:sp>
        <p:nvSpPr>
          <p:cNvPr id="100025" name="TextBox 1"/>
          <p:cNvSpPr txBox="1"/>
          <p:nvPr/>
        </p:nvSpPr>
        <p:spPr>
          <a:xfrm xmlns:a="http://schemas.openxmlformats.org/drawingml/2006/main">
            <a:off x="360000" y="180000"/>
            <a:ext cx="576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5F646B"/>
                </a:solidFill>
                <a:latin typeface="Menlo"/>
                <a:ea typeface="Menlo"/>
              </a:rPr>
              <a:t>八类视觉呈现压测</a:t>
            </a:r>
          </a:p>
        </p:txBody>
      </p:sp>
      <p:sp>
        <p:nvSpPr>
          <p:cNvPr id="100026" name="TextBox 2"/>
          <p:cNvSpPr txBox="1"/>
          <p:nvPr/>
        </p:nvSpPr>
        <p:spPr>
          <a:xfrm xmlns:a="http://schemas.openxmlformats.org/drawingml/2006/main">
            <a:off x="8640000" y="180000"/>
            <a:ext cx="108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5F646B"/>
                </a:solidFill>
                <a:latin typeface="Menlo"/>
                <a:ea typeface="Menlo"/>
              </a:rPr>
              <a:t>04 / 08</a:t>
            </a:r>
          </a:p>
        </p:txBody>
      </p:sp>
      <p:sp>
        <p:nvSpPr>
          <p:cNvPr id="100027" name="TextBox 3"/>
          <p:cNvSpPr/>
          <p:nvPr/>
        </p:nvSpPr>
        <p:spPr>
          <a:xfrm xmlns:a="http://schemas.openxmlformats.org/drawingml/2006/main">
            <a:off x="360000" y="486000"/>
            <a:ext cx="792000" cy="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FA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28" name="TextBox 4"/>
          <p:cNvSpPr txBox="1"/>
          <p:nvPr/>
        </p:nvSpPr>
        <p:spPr>
          <a:xfrm xmlns:a="http://schemas.openxmlformats.org/drawingml/2006/main">
            <a:off x="360000" y="792000"/>
            <a:ext cx="8640000" cy="59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111111"/>
                </a:solidFill>
                <a:latin typeface="Helvetica"/>
                <a:ea typeface="PingFang SC"/>
              </a:rPr>
              <a:t>三条规则形成一页</a:t>
            </a:r>
          </a:p>
        </p:txBody>
      </p:sp>
      <p:sp>
        <p:nvSpPr>
          <p:cNvPr id="100029" name="TextBox 5"/>
          <p:cNvSpPr/>
          <p:nvPr/>
        </p:nvSpPr>
        <p:spPr>
          <a:xfrm xmlns:a="http://schemas.openxmlformats.org/drawingml/2006/main">
            <a:off x="360000" y="1620000"/>
            <a:ext cx="38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B8BBC0"/>
            </a:solidFill>
          </a:ln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11111"/>
                </a:solidFill>
                <a:latin typeface="Helvetica"/>
                <a:ea typeface="PingFang SC"/>
              </a:rPr>
              <a:t>语义</a:t>
            </a:r>
          </a:p>
        </p:txBody>
      </p:sp>
      <p:sp>
        <p:nvSpPr>
          <p:cNvPr id="100030" name="TextBox 6"/>
          <p:cNvSpPr/>
          <p:nvPr/>
        </p:nvSpPr>
        <p:spPr>
          <a:xfrm xmlns:a="http://schemas.openxmlformats.org/drawingml/2006/main">
            <a:off x="4860000" y="1620000"/>
            <a:ext cx="38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B8BBC0"/>
            </a:solidFill>
          </a:ln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11111"/>
                </a:solidFill>
                <a:latin typeface="Helvetica"/>
                <a:ea typeface="PingFang SC"/>
              </a:rPr>
              <a:t>语言</a:t>
            </a:r>
          </a:p>
        </p:txBody>
      </p:sp>
      <p:sp>
        <p:nvSpPr>
          <p:cNvPr id="100031" name="TextBox 7"/>
          <p:cNvSpPr/>
          <p:nvPr/>
        </p:nvSpPr>
        <p:spPr>
          <a:xfrm xmlns:a="http://schemas.openxmlformats.org/drawingml/2006/main">
            <a:off x="360000" y="2574000"/>
            <a:ext cx="38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B8BBC0"/>
            </a:solidFill>
          </a:ln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11111"/>
                </a:solidFill>
                <a:latin typeface="Helvetica"/>
                <a:ea typeface="PingFang SC"/>
              </a:rPr>
              <a:t>呈现</a:t>
            </a:r>
          </a:p>
        </p:txBody>
      </p:sp>
      <p:sp>
        <p:nvSpPr>
          <p:cNvPr id="100032" name="TextBox 8"/>
          <p:cNvSpPr/>
          <p:nvPr/>
        </p:nvSpPr>
        <p:spPr>
          <a:xfrm xmlns:a="http://schemas.openxmlformats.org/drawingml/2006/main">
            <a:off x="4860000" y="2574000"/>
            <a:ext cx="38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B8BBC0"/>
            </a:solidFill>
          </a:ln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11111"/>
                </a:solidFill>
                <a:latin typeface="Helvetica"/>
                <a:ea typeface="PingFang SC"/>
              </a:rPr>
              <a:t>页面</a:t>
            </a:r>
          </a:p>
        </p:txBody>
      </p:sp>
      <p:sp>
        <p:nvSpPr>
          <p:cNvPr id="100033" name="TextBox 9"/>
          <p:cNvSpPr txBox="1"/>
          <p:nvPr/>
        </p:nvSpPr>
        <p:spPr>
          <a:xfrm xmlns:a="http://schemas.openxmlformats.org/drawingml/2006/main">
            <a:off x="5040000" y="3780000"/>
            <a:ext cx="4320000" cy="99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002FA7"/>
                </a:solidFill>
                <a:latin typeface="Menlo"/>
                <a:ea typeface="Menlo"/>
              </a:rPr>
              <a:t>semantic → page  内容关系</a:t>
            </a:r>
          </a:p>
          <a:p xmlns:a="http://schemas.openxmlformats.org/drawingml/2006/main">
            <a:r>
              <a:rPr lang="en-US" sz="1200">
                <a:solidFill>
                  <a:srgbClr val="002FA7"/>
                </a:solidFill>
                <a:latin typeface="Menlo"/>
                <a:ea typeface="Menlo"/>
              </a:rPr>
              <a:t>language → page  整套规则</a:t>
            </a:r>
          </a:p>
          <a:p xmlns:a="http://schemas.openxmlformats.org/drawingml/2006/main">
            <a:r>
              <a:rPr lang="en-US" sz="1200">
                <a:solidFill>
                  <a:srgbClr val="002FA7"/>
                </a:solidFill>
                <a:latin typeface="Menlo"/>
                <a:ea typeface="Menlo"/>
              </a:rPr>
              <a:t>presentation → page  单页表现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/>
      <p:sp>
        <p:nvSpPr>
          <p:cNvPr id="100034" name="TextBox 1"/>
          <p:cNvSpPr txBox="1"/>
          <p:nvPr/>
        </p:nvSpPr>
        <p:spPr>
          <a:xfrm xmlns:a="http://schemas.openxmlformats.org/drawingml/2006/main">
            <a:off x="360000" y="180000"/>
            <a:ext cx="576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5F646B"/>
                </a:solidFill>
                <a:latin typeface="Menlo"/>
                <a:ea typeface="Menlo"/>
              </a:rPr>
              <a:t>八类视觉呈现压测</a:t>
            </a:r>
          </a:p>
        </p:txBody>
      </p:sp>
      <p:sp>
        <p:nvSpPr>
          <p:cNvPr id="100035" name="TextBox 2"/>
          <p:cNvSpPr txBox="1"/>
          <p:nvPr/>
        </p:nvSpPr>
        <p:spPr>
          <a:xfrm xmlns:a="http://schemas.openxmlformats.org/drawingml/2006/main">
            <a:off x="8640000" y="180000"/>
            <a:ext cx="108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5F646B"/>
                </a:solidFill>
                <a:latin typeface="Menlo"/>
                <a:ea typeface="Menlo"/>
              </a:rPr>
              <a:t>05 / 08</a:t>
            </a:r>
          </a:p>
        </p:txBody>
      </p:sp>
      <p:sp>
        <p:nvSpPr>
          <p:cNvPr id="100036" name="TextBox 3"/>
          <p:cNvSpPr/>
          <p:nvPr/>
        </p:nvSpPr>
        <p:spPr>
          <a:xfrm xmlns:a="http://schemas.openxmlformats.org/drawingml/2006/main">
            <a:off x="360000" y="486000"/>
            <a:ext cx="792000" cy="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FA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37" name="TextBox 4"/>
          <p:cNvSpPr txBox="1"/>
          <p:nvPr/>
        </p:nvSpPr>
        <p:spPr>
          <a:xfrm xmlns:a="http://schemas.openxmlformats.org/drawingml/2006/main">
            <a:off x="360000" y="810000"/>
            <a:ext cx="3420000" cy="3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002FA7"/>
                </a:solidFill>
                <a:latin typeface="Menlo"/>
                <a:ea typeface="Menlo"/>
              </a:rPr>
              <a:t>PHOTO</a:t>
            </a:r>
          </a:p>
        </p:txBody>
      </p:sp>
      <p:sp>
        <p:nvSpPr>
          <p:cNvPr id="100038" name="TextBox 5"/>
          <p:cNvSpPr txBox="1"/>
          <p:nvPr/>
        </p:nvSpPr>
        <p:spPr>
          <a:xfrm xmlns:a="http://schemas.openxmlformats.org/drawingml/2006/main">
            <a:off x="360000" y="1080000"/>
            <a:ext cx="3420000" cy="70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11111"/>
                </a:solidFill>
                <a:latin typeface="Helvetica"/>
                <a:ea typeface="PingFang SC"/>
              </a:rPr>
              <a:t>素材占据主要画幅</a:t>
            </a:r>
          </a:p>
        </p:txBody>
      </p:sp>
      <p:sp>
        <p:nvSpPr>
          <p:cNvPr id="100039" name="TextBox 6"/>
          <p:cNvSpPr txBox="1"/>
          <p:nvPr/>
        </p:nvSpPr>
        <p:spPr>
          <a:xfrm xmlns:a="http://schemas.openxmlformats.org/drawingml/2006/main">
            <a:off x="360000" y="1908000"/>
            <a:ext cx="3420000" cy="12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5F646B"/>
                </a:solidFill>
                <a:latin typeface="Helvetica"/>
                <a:ea typeface="PingFang SC"/>
              </a:rPr>
              <a:t>图片负责证明，而不是装饰空白。</a:t>
            </a:r>
          </a:p>
        </p:txBody>
      </p:sp>
      <p:pic>
        <p:nvPicPr>
          <p:cNvPr id="100040" name="Picture 1" descr="抽象工作台视觉证据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a19983a3194ec5">
            <a:extLst>
              <a:ext uri="{96DAC541-7B7A-43D3-8B79-37D633B846F1}">
                <asvg:svgBlip xmlns:asvg="http://schemas.microsoft.com/office/drawing/2016/SVG/main" r:embed="Rb76336e57a8142fe"/>
              </a:ext>
            </a:extLst>
          </a:blip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140000" y="900000"/>
            <a:ext cx="5220000" cy="3528000"/>
          </a:xfrm>
          <a:prstGeom xmlns:a="http://schemas.openxmlformats.org/drawingml/2006/main" prst="rect">
            <a:avLst/>
          </a:prstGeom>
        </p:spPr>
      </p:pic>
      <p:sp>
        <p:nvSpPr>
          <p:cNvPr id="100041" name="TextBox 7"/>
          <p:cNvSpPr txBox="1"/>
          <p:nvPr/>
        </p:nvSpPr>
        <p:spPr>
          <a:xfrm xmlns:a="http://schemas.openxmlformats.org/drawingml/2006/main">
            <a:off x="4140000" y="4500000"/>
            <a:ext cx="5220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1000">
                <a:solidFill>
                  <a:srgbClr val="5F646B"/>
                </a:solidFill>
                <a:latin typeface="Menlo"/>
                <a:ea typeface="Menlo"/>
              </a:rPr>
              <a:t>摄影主导的证据位置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/>
      <p:sp>
        <p:nvSpPr>
          <p:cNvPr id="100042" name="TextBox 1"/>
          <p:cNvSpPr txBox="1"/>
          <p:nvPr/>
        </p:nvSpPr>
        <p:spPr>
          <a:xfrm xmlns:a="http://schemas.openxmlformats.org/drawingml/2006/main">
            <a:off x="360000" y="180000"/>
            <a:ext cx="576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5F646B"/>
                </a:solidFill>
                <a:latin typeface="Menlo"/>
                <a:ea typeface="Menlo"/>
              </a:rPr>
              <a:t>八类视觉呈现压测</a:t>
            </a:r>
          </a:p>
        </p:txBody>
      </p:sp>
      <p:sp>
        <p:nvSpPr>
          <p:cNvPr id="100043" name="TextBox 2"/>
          <p:cNvSpPr txBox="1"/>
          <p:nvPr/>
        </p:nvSpPr>
        <p:spPr>
          <a:xfrm xmlns:a="http://schemas.openxmlformats.org/drawingml/2006/main">
            <a:off x="8640000" y="180000"/>
            <a:ext cx="108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5F646B"/>
                </a:solidFill>
                <a:latin typeface="Menlo"/>
                <a:ea typeface="Menlo"/>
              </a:rPr>
              <a:t>06 / 08</a:t>
            </a:r>
          </a:p>
        </p:txBody>
      </p:sp>
      <p:sp>
        <p:nvSpPr>
          <p:cNvPr id="100044" name="TextBox 3"/>
          <p:cNvSpPr/>
          <p:nvPr/>
        </p:nvSpPr>
        <p:spPr>
          <a:xfrm xmlns:a="http://schemas.openxmlformats.org/drawingml/2006/main">
            <a:off x="360000" y="486000"/>
            <a:ext cx="792000" cy="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FA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45" name="TextBox 4"/>
          <p:cNvSpPr txBox="1"/>
          <p:nvPr/>
        </p:nvSpPr>
        <p:spPr>
          <a:xfrm xmlns:a="http://schemas.openxmlformats.org/drawingml/2006/main">
            <a:off x="360000" y="810000"/>
            <a:ext cx="4140000" cy="3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002FA7"/>
                </a:solidFill>
                <a:latin typeface="Menlo"/>
                <a:ea typeface="Menlo"/>
              </a:rPr>
              <a:t>UI</a:t>
            </a:r>
          </a:p>
        </p:txBody>
      </p:sp>
      <p:sp>
        <p:nvSpPr>
          <p:cNvPr id="100046" name="TextBox 5"/>
          <p:cNvSpPr txBox="1"/>
          <p:nvPr/>
        </p:nvSpPr>
        <p:spPr>
          <a:xfrm xmlns:a="http://schemas.openxmlformats.org/drawingml/2006/main">
            <a:off x="360000" y="1080000"/>
            <a:ext cx="4140000" cy="70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2700" b="1">
                <a:solidFill>
                  <a:srgbClr val="111111"/>
                </a:solidFill>
                <a:latin typeface="Helvetica"/>
                <a:ea typeface="PingFang SC"/>
              </a:rPr>
              <a:t>界面进入产品框架</a:t>
            </a:r>
          </a:p>
        </p:txBody>
      </p:sp>
      <p:sp>
        <p:nvSpPr>
          <p:cNvPr id="100047" name="TextBox 6"/>
          <p:cNvSpPr txBox="1"/>
          <p:nvPr/>
        </p:nvSpPr>
        <p:spPr>
          <a:xfrm xmlns:a="http://schemas.openxmlformats.org/drawingml/2006/main">
            <a:off x="360000" y="1908000"/>
            <a:ext cx="4140000" cy="12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5F646B"/>
                </a:solidFill>
                <a:latin typeface="Helvetica"/>
                <a:ea typeface="PingFang SC"/>
              </a:rPr>
              <a:t>边框、留白与 caption 说明这是产品证据。</a:t>
            </a:r>
          </a:p>
        </p:txBody>
      </p:sp>
      <p:sp>
        <p:nvSpPr>
          <p:cNvPr id="100048" name="TextBox 7"/>
          <p:cNvSpPr/>
          <p:nvPr/>
        </p:nvSpPr>
        <p:spPr>
          <a:xfrm xmlns:a="http://schemas.openxmlformats.org/drawingml/2006/main">
            <a:off x="4842000" y="882000"/>
            <a:ext cx="4716000" cy="340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B8BBC0"/>
            </a:solidFill>
          </a:ln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endParaRPr lang="en-US" sz="100">
              <a:solidFill>
                <a:srgbClr val="111111"/>
              </a:solidFill>
              <a:latin typeface="Helvetica"/>
              <a:ea typeface="PingFang SC"/>
            </a:endParaRPr>
          </a:p>
        </p:txBody>
      </p:sp>
      <p:pic>
        <p:nvPicPr>
          <p:cNvPr id="100049" name="Picture 1" descr="包含文件、编辑器和预览区的抽象产品界面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d79b306c0343ae">
            <a:extLst>
              <a:ext uri="{96DAC541-7B7A-43D3-8B79-37D633B846F1}">
                <asvg:svgBlip xmlns:asvg="http://schemas.microsoft.com/office/drawing/2016/SVG/main" r:embed="R4c0b84af108b48f6"/>
              </a:ext>
            </a:extLst>
          </a:blip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680000" y="1296000"/>
            <a:ext cx="1476000" cy="2088000"/>
          </a:xfrm>
          <a:prstGeom xmlns:a="http://schemas.openxmlformats.org/drawingml/2006/main" prst="rect">
            <a:avLst/>
          </a:prstGeom>
        </p:spPr>
      </p:pic>
      <p:sp>
        <p:nvSpPr>
          <p:cNvPr id="100050" name="TextBox 8"/>
          <p:cNvSpPr txBox="1"/>
          <p:nvPr/>
        </p:nvSpPr>
        <p:spPr>
          <a:xfrm xmlns:a="http://schemas.openxmlformats.org/drawingml/2006/main">
            <a:off x="4680000" y="3564000"/>
            <a:ext cx="1476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1000">
                <a:solidFill>
                  <a:srgbClr val="5F646B"/>
                </a:solidFill>
                <a:latin typeface="Menlo"/>
                <a:ea typeface="Menlo"/>
              </a:rPr>
              <a:t>产品界面主导的证据位置</a:t>
            </a:r>
          </a:p>
        </p:txBody>
      </p:sp>
      <p:pic>
        <p:nvPicPr>
          <p:cNvPr id="100051" name="Picture 2" descr="抽象产品界面的编辑器状态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f539d542e941c9">
            <a:extLst>
              <a:ext uri="{96DAC541-7B7A-43D3-8B79-37D633B846F1}">
                <asvg:svgBlip xmlns:asvg="http://schemas.microsoft.com/office/drawing/2016/SVG/main" r:embed="R65890d58f7ba4236"/>
              </a:ext>
            </a:extLst>
          </a:blip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282000" y="1296000"/>
            <a:ext cx="1476000" cy="2088000"/>
          </a:xfrm>
          <a:prstGeom xmlns:a="http://schemas.openxmlformats.org/drawingml/2006/main" prst="rect">
            <a:avLst/>
          </a:prstGeom>
        </p:spPr>
      </p:pic>
      <p:sp>
        <p:nvSpPr>
          <p:cNvPr id="100052" name="TextBox 9"/>
          <p:cNvSpPr txBox="1"/>
          <p:nvPr/>
        </p:nvSpPr>
        <p:spPr>
          <a:xfrm xmlns:a="http://schemas.openxmlformats.org/drawingml/2006/main">
            <a:off x="6282000" y="3564000"/>
            <a:ext cx="1476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1000">
                <a:solidFill>
                  <a:srgbClr val="5F646B"/>
                </a:solidFill>
                <a:latin typeface="Menlo"/>
                <a:ea typeface="Menlo"/>
              </a:rPr>
              <a:t>编辑状态</a:t>
            </a:r>
          </a:p>
        </p:txBody>
      </p:sp>
      <p:pic>
        <p:nvPicPr>
          <p:cNvPr id="100053" name="Picture 3" descr="抽象产品界面的预览状态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48b2d4aa524177">
            <a:extLst>
              <a:ext uri="{96DAC541-7B7A-43D3-8B79-37D633B846F1}">
                <asvg:svgBlip xmlns:asvg="http://schemas.microsoft.com/office/drawing/2016/SVG/main" r:embed="R35083e8d62824733"/>
              </a:ext>
            </a:extLst>
          </a:blip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884000" y="1296000"/>
            <a:ext cx="1476000" cy="2088000"/>
          </a:xfrm>
          <a:prstGeom xmlns:a="http://schemas.openxmlformats.org/drawingml/2006/main" prst="rect">
            <a:avLst/>
          </a:prstGeom>
        </p:spPr>
      </p:pic>
      <p:sp>
        <p:nvSpPr>
          <p:cNvPr id="100054" name="TextBox 10"/>
          <p:cNvSpPr txBox="1"/>
          <p:nvPr/>
        </p:nvSpPr>
        <p:spPr>
          <a:xfrm xmlns:a="http://schemas.openxmlformats.org/drawingml/2006/main">
            <a:off x="7884000" y="3564000"/>
            <a:ext cx="1476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1000">
                <a:solidFill>
                  <a:srgbClr val="5F646B"/>
                </a:solidFill>
                <a:latin typeface="Menlo"/>
                <a:ea typeface="Menlo"/>
              </a:rPr>
              <a:t>预览状态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/>
      <p:sp>
        <p:nvSpPr>
          <p:cNvPr id="100055" name="TextBox 1"/>
          <p:cNvSpPr txBox="1"/>
          <p:nvPr/>
        </p:nvSpPr>
        <p:spPr>
          <a:xfrm xmlns:a="http://schemas.openxmlformats.org/drawingml/2006/main">
            <a:off x="360000" y="180000"/>
            <a:ext cx="576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F7F7F2"/>
                </a:solidFill>
                <a:latin typeface="Menlo"/>
                <a:ea typeface="Menlo"/>
              </a:rPr>
              <a:t>八类视觉呈现压测</a:t>
            </a:r>
          </a:p>
        </p:txBody>
      </p:sp>
      <p:sp>
        <p:nvSpPr>
          <p:cNvPr id="100056" name="TextBox 2"/>
          <p:cNvSpPr txBox="1"/>
          <p:nvPr/>
        </p:nvSpPr>
        <p:spPr>
          <a:xfrm xmlns:a="http://schemas.openxmlformats.org/drawingml/2006/main">
            <a:off x="8640000" y="180000"/>
            <a:ext cx="108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F7F7F2"/>
                </a:solidFill>
                <a:latin typeface="Menlo"/>
                <a:ea typeface="Menlo"/>
              </a:rPr>
              <a:t>07 / 08</a:t>
            </a:r>
          </a:p>
        </p:txBody>
      </p:sp>
      <p:sp>
        <p:nvSpPr>
          <p:cNvPr id="100057" name="TextBox 3"/>
          <p:cNvSpPr/>
          <p:nvPr/>
        </p:nvSpPr>
        <p:spPr>
          <a:xfrm xmlns:a="http://schemas.openxmlformats.org/drawingml/2006/main">
            <a:off x="360000" y="486000"/>
            <a:ext cx="792000" cy="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FA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58" name="TextBox 4"/>
          <p:cNvSpPr txBox="1"/>
          <p:nvPr/>
        </p:nvSpPr>
        <p:spPr>
          <a:xfrm xmlns:a="http://schemas.openxmlformats.org/drawingml/2006/main">
            <a:off x="360000" y="540000"/>
            <a:ext cx="1080000" cy="12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6200">
                <a:solidFill>
                  <a:srgbClr val="002FA7"/>
                </a:solidFill>
                <a:latin typeface="Helvetica"/>
                <a:ea typeface="PingFang SC"/>
              </a:rPr>
              <a:t>“</a:t>
            </a:r>
          </a:p>
        </p:txBody>
      </p:sp>
      <p:sp>
        <p:nvSpPr>
          <p:cNvPr id="100059" name="TextBox 5"/>
          <p:cNvSpPr/>
          <p:nvPr/>
        </p:nvSpPr>
        <p:spPr>
          <a:xfrm xmlns:a="http://schemas.openxmlformats.org/drawingml/2006/main">
            <a:off x="558000" y="1620000"/>
            <a:ext cx="28800" cy="239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FA7"/>
          </a:solidFill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endParaRPr lang="en-US" sz="100">
              <a:solidFill>
                <a:srgbClr val="002FA7"/>
              </a:solidFill>
              <a:latin typeface="Helvetica"/>
              <a:ea typeface="PingFang SC"/>
            </a:endParaRPr>
          </a:p>
        </p:txBody>
      </p:sp>
      <p:sp>
        <p:nvSpPr>
          <p:cNvPr id="100060" name="TextBox 6"/>
          <p:cNvSpPr txBox="1"/>
          <p:nvPr/>
        </p:nvSpPr>
        <p:spPr>
          <a:xfrm xmlns:a="http://schemas.openxmlformats.org/drawingml/2006/main">
            <a:off x="864000" y="1800000"/>
            <a:ext cx="8280000" cy="174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3500" b="1">
                <a:solidFill>
                  <a:srgbClr val="F7F7F2"/>
                </a:solidFill>
                <a:latin typeface="Helvetica"/>
                <a:ea typeface="PingFang SC"/>
              </a:rPr>
              <a:t>规则线只服务层级，</a:t>
            </a:r>
            <a:br/>
            <a:r>
              <a:rPr lang="en-US" sz="3500" b="1">
                <a:solidFill>
                  <a:srgbClr val="F7F7F2"/>
                </a:solidFill>
                <a:latin typeface="Helvetica"/>
                <a:ea typeface="PingFang SC"/>
              </a:rPr>
              <a:t>不与内容争夺主角。</a:t>
            </a:r>
          </a:p>
        </p:txBody>
      </p:sp>
      <p:sp>
        <p:nvSpPr>
          <p:cNvPr id="100061" name="TextBox 7"/>
          <p:cNvSpPr txBox="1"/>
          <p:nvPr/>
        </p:nvSpPr>
        <p:spPr>
          <a:xfrm xmlns:a="http://schemas.openxmlformats.org/drawingml/2006/main">
            <a:off x="864000" y="4176000"/>
            <a:ext cx="4320000" cy="34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002FA7"/>
                </a:solidFill>
                <a:latin typeface="Menlo"/>
                <a:ea typeface="Menlo"/>
              </a:rPr>
              <a:t>507-ppt 组合质量合同</a:t>
            </a:r>
          </a:p>
        </p:txBody>
      </p:sp>
    </p:spTree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/>
      <p:sp>
        <p:nvSpPr>
          <p:cNvPr id="100062" name="TextBox 1"/>
          <p:cNvSpPr txBox="1"/>
          <p:nvPr/>
        </p:nvSpPr>
        <p:spPr>
          <a:xfrm xmlns:a="http://schemas.openxmlformats.org/drawingml/2006/main">
            <a:off x="360000" y="180000"/>
            <a:ext cx="576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5F646B"/>
                </a:solidFill>
                <a:latin typeface="Menlo"/>
                <a:ea typeface="Menlo"/>
              </a:rPr>
              <a:t>八类视觉呈现压测</a:t>
            </a:r>
          </a:p>
        </p:txBody>
      </p:sp>
      <p:sp>
        <p:nvSpPr>
          <p:cNvPr id="100063" name="TextBox 2"/>
          <p:cNvSpPr txBox="1"/>
          <p:nvPr/>
        </p:nvSpPr>
        <p:spPr>
          <a:xfrm xmlns:a="http://schemas.openxmlformats.org/drawingml/2006/main">
            <a:off x="8640000" y="180000"/>
            <a:ext cx="108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5F646B"/>
                </a:solidFill>
                <a:latin typeface="Menlo"/>
                <a:ea typeface="Menlo"/>
              </a:rPr>
              <a:t>08 / 08</a:t>
            </a:r>
          </a:p>
        </p:txBody>
      </p:sp>
      <p:sp>
        <p:nvSpPr>
          <p:cNvPr id="100064" name="TextBox 3"/>
          <p:cNvSpPr/>
          <p:nvPr/>
        </p:nvSpPr>
        <p:spPr>
          <a:xfrm xmlns:a="http://schemas.openxmlformats.org/drawingml/2006/main">
            <a:off x="360000" y="486000"/>
            <a:ext cx="792000" cy="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FA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65" name="TextBox 4"/>
          <p:cNvSpPr/>
          <p:nvPr/>
        </p:nvSpPr>
        <p:spPr>
          <a:xfrm xmlns:a="http://schemas.openxmlformats.org/drawingml/2006/main">
            <a:off x="54000" y="756000"/>
            <a:ext cx="108000" cy="401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FA7"/>
          </a:solidFill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endParaRPr lang="en-US" sz="100">
              <a:solidFill>
                <a:srgbClr val="002FA7"/>
              </a:solidFill>
              <a:latin typeface="Helvetica"/>
              <a:ea typeface="PingFang SC"/>
            </a:endParaRPr>
          </a:p>
        </p:txBody>
      </p:sp>
      <p:sp>
        <p:nvSpPr>
          <p:cNvPr id="100066" name="TextBox 5"/>
          <p:cNvSpPr txBox="1"/>
          <p:nvPr/>
        </p:nvSpPr>
        <p:spPr>
          <a:xfrm xmlns:a="http://schemas.openxmlformats.org/drawingml/2006/main">
            <a:off x="360000" y="792000"/>
            <a:ext cx="8640000" cy="59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111111"/>
                </a:solidFill>
                <a:latin typeface="Helvetica"/>
                <a:ea typeface="PingFang SC"/>
              </a:rPr>
              <a:t>从判断走到交付</a:t>
            </a:r>
          </a:p>
        </p:txBody>
      </p:sp>
      <p:sp>
        <p:nvSpPr>
          <p:cNvPr id="100067" name="TextBox 6"/>
          <p:cNvSpPr/>
          <p:nvPr/>
        </p:nvSpPr>
        <p:spPr>
          <a:xfrm xmlns:a="http://schemas.openxmlformats.org/drawingml/2006/main">
            <a:off x="360000" y="1674000"/>
            <a:ext cx="2724001" cy="2214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7F2"/>
          </a:solidFill>
          <a:ln xmlns:a="http://schemas.openxmlformats.org/drawingml/2006/main" w="15875">
            <a:solidFill>
              <a:srgbClr val="002FA7"/>
            </a:solidFill>
          </a:ln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endParaRPr lang="en-US" sz="100">
              <a:solidFill>
                <a:srgbClr val="111111"/>
              </a:solidFill>
              <a:latin typeface="Helvetica"/>
              <a:ea typeface="PingFang SC"/>
            </a:endParaRPr>
          </a:p>
        </p:txBody>
      </p:sp>
      <p:sp>
        <p:nvSpPr>
          <p:cNvPr id="100068" name="TextBox 7"/>
          <p:cNvSpPr txBox="1"/>
          <p:nvPr/>
        </p:nvSpPr>
        <p:spPr>
          <a:xfrm xmlns:a="http://schemas.openxmlformats.org/drawingml/2006/main">
            <a:off x="360000" y="1872000"/>
            <a:ext cx="2724001" cy="5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2300" b="1">
                <a:solidFill>
                  <a:srgbClr val="002FA7"/>
                </a:solidFill>
                <a:latin typeface="Helvetica"/>
                <a:ea typeface="PingFang SC"/>
              </a:rPr>
              <a:t>01 · 看内容</a:t>
            </a:r>
          </a:p>
        </p:txBody>
      </p:sp>
      <p:sp>
        <p:nvSpPr>
          <p:cNvPr id="100069" name="TextBox 8"/>
          <p:cNvSpPr txBox="1"/>
          <p:nvPr/>
        </p:nvSpPr>
        <p:spPr>
          <a:xfrm xmlns:a="http://schemas.openxmlformats.org/drawingml/2006/main">
            <a:off x="360000" y="2556000"/>
            <a:ext cx="2724001" cy="11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111111"/>
                </a:solidFill>
                <a:latin typeface="Helvetica"/>
                <a:ea typeface="PingFang SC"/>
              </a:rPr>
              <a:t>识别页面关系。</a:t>
            </a:r>
          </a:p>
        </p:txBody>
      </p:sp>
      <p:sp>
        <p:nvSpPr>
          <p:cNvPr id="100070" name="TextBox 9"/>
          <p:cNvSpPr/>
          <p:nvPr/>
        </p:nvSpPr>
        <p:spPr>
          <a:xfrm xmlns:a="http://schemas.openxmlformats.org/drawingml/2006/main">
            <a:off x="3318001" y="1674000"/>
            <a:ext cx="2724001" cy="2214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7F2"/>
          </a:solidFill>
          <a:ln xmlns:a="http://schemas.openxmlformats.org/drawingml/2006/main" w="15875">
            <a:solidFill>
              <a:srgbClr val="002FA7"/>
            </a:solidFill>
          </a:ln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endParaRPr lang="en-US" sz="100">
              <a:solidFill>
                <a:srgbClr val="111111"/>
              </a:solidFill>
              <a:latin typeface="Helvetica"/>
              <a:ea typeface="PingFang SC"/>
            </a:endParaRPr>
          </a:p>
        </p:txBody>
      </p:sp>
      <p:sp>
        <p:nvSpPr>
          <p:cNvPr id="100071" name="TextBox 10"/>
          <p:cNvSpPr txBox="1"/>
          <p:nvPr/>
        </p:nvSpPr>
        <p:spPr>
          <a:xfrm xmlns:a="http://schemas.openxmlformats.org/drawingml/2006/main">
            <a:off x="3318001" y="1872000"/>
            <a:ext cx="2724001" cy="5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2300" b="1">
                <a:solidFill>
                  <a:srgbClr val="002FA7"/>
                </a:solidFill>
                <a:latin typeface="Helvetica"/>
                <a:ea typeface="PingFang SC"/>
              </a:rPr>
              <a:t>02 · 做原型</a:t>
            </a:r>
          </a:p>
        </p:txBody>
      </p:sp>
      <p:sp>
        <p:nvSpPr>
          <p:cNvPr id="100072" name="TextBox 11"/>
          <p:cNvSpPr txBox="1"/>
          <p:nvPr/>
        </p:nvSpPr>
        <p:spPr>
          <a:xfrm xmlns:a="http://schemas.openxmlformats.org/drawingml/2006/main">
            <a:off x="3318001" y="2556000"/>
            <a:ext cx="2724001" cy="11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111111"/>
                </a:solidFill>
                <a:latin typeface="Helvetica"/>
                <a:ea typeface="PingFang SC"/>
              </a:rPr>
              <a:t>比较真实组合。</a:t>
            </a:r>
          </a:p>
        </p:txBody>
      </p:sp>
      <p:sp>
        <p:nvSpPr>
          <p:cNvPr id="100073" name="TextBox 12"/>
          <p:cNvSpPr/>
          <p:nvPr/>
        </p:nvSpPr>
        <p:spPr>
          <a:xfrm xmlns:a="http://schemas.openxmlformats.org/drawingml/2006/main">
            <a:off x="6275988" y="1674000"/>
            <a:ext cx="2724001" cy="2214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7F2"/>
          </a:solidFill>
          <a:ln xmlns:a="http://schemas.openxmlformats.org/drawingml/2006/main" w="15875">
            <a:solidFill>
              <a:srgbClr val="002FA7"/>
            </a:solidFill>
          </a:ln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endParaRPr lang="en-US" sz="100">
              <a:solidFill>
                <a:srgbClr val="111111"/>
              </a:solidFill>
              <a:latin typeface="Helvetica"/>
              <a:ea typeface="PingFang SC"/>
            </a:endParaRPr>
          </a:p>
        </p:txBody>
      </p:sp>
      <p:sp>
        <p:nvSpPr>
          <p:cNvPr id="100074" name="TextBox 13"/>
          <p:cNvSpPr txBox="1"/>
          <p:nvPr/>
        </p:nvSpPr>
        <p:spPr>
          <a:xfrm xmlns:a="http://schemas.openxmlformats.org/drawingml/2006/main">
            <a:off x="6275988" y="1872000"/>
            <a:ext cx="2724001" cy="5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2300" b="1">
                <a:solidFill>
                  <a:srgbClr val="002FA7"/>
                </a:solidFill>
                <a:latin typeface="Helvetica"/>
                <a:ea typeface="PingFang SC"/>
              </a:rPr>
              <a:t>03 · 再生成</a:t>
            </a:r>
          </a:p>
        </p:txBody>
      </p:sp>
      <p:sp>
        <p:nvSpPr>
          <p:cNvPr id="100075" name="TextBox 14"/>
          <p:cNvSpPr txBox="1"/>
          <p:nvPr/>
        </p:nvSpPr>
        <p:spPr>
          <a:xfrm xmlns:a="http://schemas.openxmlformats.org/drawingml/2006/main">
            <a:off x="6275988" y="2556000"/>
            <a:ext cx="2724001" cy="11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111111"/>
                </a:solidFill>
                <a:latin typeface="Helvetica"/>
                <a:ea typeface="PingFang SC"/>
              </a:rPr>
              <a:t>保留确认证据。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等线"/>
        <a:cs typeface=""/>
      </a:majorFont>
      <a:minorFont>
        <a:latin typeface="Calibri"/>
        <a:ea typeface="等线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2026-08-23T16:23:39Z</dcterms:created>
  <cp:lastModifiedBy>OfficeCLI</cp:lastModifiedBy>
  <dcterms:modified xsi:type="dcterms:W3CDTF">2026-08-23T16:23:39Z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2026-08-23T16:23:53Z</vt:lpwstr>
  </op:property>
</op:Properties>
</file>