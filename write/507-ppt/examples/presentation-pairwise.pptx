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svg" ContentType="image/svg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notesSlides/notesSlide2.xml" ContentType="application/vnd.openxmlformats-officedocument.presentationml.notes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f80a58489e44ca0" /><Relationship Type="http://schemas.openxmlformats.org/package/2006/relationships/metadata/core-properties" Target="/docProps/core.xml" Id="Ra71e144c15db41bb" /><Relationship Type="http://schemas.openxmlformats.org/officeDocument/2006/relationships/extended-properties" Target="/docProps/app.xml" Id="Ree667acd497a4e3e" /><Relationship Type="http://schemas.openxmlformats.org/officeDocument/2006/relationships/custom-properties" Target="/docProps/custom.xml" Id="Rea47cd83e82c489d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dd141bf92787417e"/>
  </p:notesMasterIdLst>
  <p:sldIdLst>
    <p:sldId id="256" r:id="Ra093fe3a041f4e61"/>
    <p:sldId id="257" r:id="Rc39bc4c4c4884ff2"/>
    <p:sldId id="258" r:id="Rbfe9a33426114681"/>
    <p:sldId id="259" r:id="R6121c4685a194f23"/>
    <p:sldId id="260" r:id="R9a59835844e246e8"/>
    <p:sldId id="261" r:id="R74d66cc3351c47c2"/>
    <p:sldId id="262" r:id="Rd1780322762c4137"/>
    <p:sldId id="263" r:id="R2628ee92eb464f1a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a093fe3a041f4e61" /><Relationship Type="http://schemas.openxmlformats.org/officeDocument/2006/relationships/slide" Target="/ppt/slides/slide2.xml" Id="Rc39bc4c4c4884ff2" /><Relationship Type="http://schemas.openxmlformats.org/officeDocument/2006/relationships/slide" Target="/ppt/slides/slide3.xml" Id="Rbfe9a33426114681" /><Relationship Type="http://schemas.openxmlformats.org/officeDocument/2006/relationships/slide" Target="/ppt/slides/slide4.xml" Id="R6121c4685a194f23" /><Relationship Type="http://schemas.openxmlformats.org/officeDocument/2006/relationships/slide" Target="/ppt/slides/slide5.xml" Id="R9a59835844e246e8" /><Relationship Type="http://schemas.openxmlformats.org/officeDocument/2006/relationships/slide" Target="/ppt/slides/slide6.xml" Id="R74d66cc3351c47c2" /><Relationship Type="http://schemas.openxmlformats.org/officeDocument/2006/relationships/slide" Target="/ppt/slides/slide7.xml" Id="Rd1780322762c4137" /><Relationship Type="http://schemas.openxmlformats.org/officeDocument/2006/relationships/slide" Target="/ppt/slides/slide8.xml" Id="R2628ee92eb464f1a" /><Relationship Type="http://schemas.openxmlformats.org/officeDocument/2006/relationships/notesMaster" Target="/ppt/notesMasters/notesMaster1.xml" Id="Rdd141bf9278741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9508c97466e4139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07d67642b7d45cf" /><Relationship Type="http://schemas.openxmlformats.org/officeDocument/2006/relationships/slide" Target="/ppt/slides/slide1.xml" Id="Rc78a9ad1712d47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ed85f59d9f54e7c" /><Relationship Type="http://schemas.openxmlformats.org/officeDocument/2006/relationships/slide" Target="/ppt/slides/slide2.xml" Id="R858cdb3ea6ff45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8be2f4f8a0849ab" /><Relationship Type="http://schemas.openxmlformats.org/officeDocument/2006/relationships/slide" Target="/ppt/slides/slide3.xml" Id="Ra404ac139b4c4e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05eaa2ff1b94ef0" /><Relationship Type="http://schemas.openxmlformats.org/officeDocument/2006/relationships/slide" Target="/ppt/slides/slide4.xml" Id="Rd733bbf2a2d14b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bd71b49745742dc" /><Relationship Type="http://schemas.openxmlformats.org/officeDocument/2006/relationships/slide" Target="/ppt/slides/slide5.xml" Id="R81b1fff302e945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0869be518b94a77" /><Relationship Type="http://schemas.openxmlformats.org/officeDocument/2006/relationships/slide" Target="/ppt/slides/slide6.xml" Id="R6ffac82ebbb54a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a366ca18d95479d" /><Relationship Type="http://schemas.openxmlformats.org/officeDocument/2006/relationships/slide" Target="/ppt/slides/slide7.xml" Id="R8cddb14be9e647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94df82b9c9343da" /><Relationship Type="http://schemas.openxmlformats.org/officeDocument/2006/relationships/slide" Target="/ppt/slides/slide8.xml" Id="Rdb7f95dc092240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验证 type-led。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验证 panel-led。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验证 data-led 与原生 chart。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验证 schematic-led。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验证 photo-led。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验证 ui-product-led。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验证 editorial-print-led 的 PPTX 适配。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验证 hand-drawn-explainer 的 PPTX 适配。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0c55c37cce4bc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dab98d8e9f41f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61424d1240446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a06f11132b4db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03ed33866c4d4f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1cbfbf2544bf467a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a1466be6e4133" /><Relationship Type="http://schemas.openxmlformats.org/officeDocument/2006/relationships/notesSlide" Target="/ppt/notesSlides/notesSlide1.xml" Id="Ra4c352d12d6f42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f32b85fa24429e" /><Relationship Type="http://schemas.openxmlformats.org/officeDocument/2006/relationships/notesSlide" Target="/ppt/notesSlides/notesSlide2.xml" Id="Rb3c248cdecba41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af5836e7345fc" /><Relationship Type="http://schemas.openxmlformats.org/officeDocument/2006/relationships/chart" Target="/ppt/slides/charts/chart1.xml" Id="R12f153259c4047b3" /><Relationship Type="http://schemas.openxmlformats.org/officeDocument/2006/relationships/notesSlide" Target="/ppt/notesSlides/notesSlide3.xml" Id="R5439799ae4604b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3385f7fd54406" /><Relationship Type="http://schemas.openxmlformats.org/officeDocument/2006/relationships/notesSlide" Target="/ppt/notesSlides/notesSlide4.xml" Id="Rf0450b3200c547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33fc72cf124368" /><Relationship Type="http://schemas.openxmlformats.org/officeDocument/2006/relationships/image" Target="/ppt/media/image.svg" Id="R9f8309161d794c58" /><Relationship Type="http://schemas.openxmlformats.org/officeDocument/2006/relationships/image" Target="/ppt/media/image.png" Id="R9d5ce2cd9c6d4afe" /><Relationship Type="http://schemas.openxmlformats.org/officeDocument/2006/relationships/notesSlide" Target="/ppt/notesSlides/notesSlide5.xml" Id="R80f740d9c6bf4c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da953eff8499e" /><Relationship Type="http://schemas.openxmlformats.org/officeDocument/2006/relationships/image" Target="/ppt/media/image2.svg" Id="R2513ef05299f4221" /><Relationship Type="http://schemas.openxmlformats.org/officeDocument/2006/relationships/image" Target="/ppt/media/image2.png" Id="R615a3df2dcdc45a0" /><Relationship Type="http://schemas.openxmlformats.org/officeDocument/2006/relationships/image" Target="/ppt/media/image3.svg" Id="R5f94cfdccbc64765" /><Relationship Type="http://schemas.openxmlformats.org/officeDocument/2006/relationships/image" Target="/ppt/media/image3.png" Id="Rb42a11a72765441a" /><Relationship Type="http://schemas.openxmlformats.org/officeDocument/2006/relationships/image" Target="/ppt/media/image4.svg" Id="R5d9399f41c554fec" /><Relationship Type="http://schemas.openxmlformats.org/officeDocument/2006/relationships/image" Target="/ppt/media/image4.png" Id="R3c1b703af3db457a" /><Relationship Type="http://schemas.openxmlformats.org/officeDocument/2006/relationships/notesSlide" Target="/ppt/notesSlides/notesSlide6.xml" Id="R5f57e9e4b33d40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067f77774471c" /><Relationship Type="http://schemas.openxmlformats.org/officeDocument/2006/relationships/notesSlide" Target="/ppt/notesSlides/notesSlide7.xml" Id="Ra59b223994524d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11559c2244f35" /><Relationship Type="http://schemas.openxmlformats.org/officeDocument/2006/relationships/notesSlide" Target="/ppt/notesSlides/notesSlide8.xml" Id="R6ec5fb8e545647fc" /></Relationships>
</file>

<file path=ppt/slides/charts/chart1.xml><?xml version="1.0" encoding="utf-8"?>
<c:chartSpace xmlns:c="http://schemas.openxmlformats.org/drawingml/2006/chart">
  <c:date1904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原生支持</c:v>
          </c:tx>
          <c:spPr>
            <a:solidFill xmlns:a="http://schemas.openxmlformats.org/drawingml/2006/main">
              <a:srgbClr val="002FA7"/>
            </a:solidFill>
          </c:spPr>
          <c:invertIfNegative val="0"/>
          <c:cat>
            <c:strLit>
              <c:ptCount val="2"/>
              <c:pt idx="0">
                <c:v>PPTX</c:v>
              </c:pt>
              <c:pt idx="1">
                <c:v>HTML</c:v>
              </c:pt>
            </c:strLit>
          </c:cat>
          <c:val>
            <c:numLit>
              <c:formatCode>General</c:formatCode>
              <c:ptCount val="2"/>
              <c:pt idx="0">
                <c:v>2</c:v>
              </c:pt>
              <c:pt idx="1">
                <c:v>2</c:v>
              </c:pt>
            </c:numLit>
          </c:val>
        </c:ser>
        <c:ser>
          <c:idx val="1"/>
          <c:order val="1"/>
          <c:tx>
            <c:v>适配支持</c:v>
          </c:tx>
          <c:spPr>
            <a:solidFill xmlns:a="http://schemas.openxmlformats.org/drawingml/2006/main">
              <a:srgbClr val="111111"/>
            </a:solidFill>
          </c:spPr>
          <c:invertIfNegative val="0"/>
          <c:cat>
            <c:strLit>
              <c:ptCount val="2"/>
              <c:pt idx="0">
                <c:v>PPTX</c:v>
              </c:pt>
              <c:pt idx="1">
                <c:v>HTML</c:v>
              </c:pt>
            </c:strLit>
          </c:cat>
          <c:val>
            <c:numLit>
              <c:formatCode>General</c:formatCode>
              <c:ptCount val="2"/>
              <c:pt idx="0">
                <c:v>2</c:v>
              </c:pt>
              <c:pt idx="1">
                <c:v>0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5F646B"/>
                </a:solidFill>
                <a:latin typeface="Helvetica"/>
                <a:ea typeface="Helvetica"/>
              </a:defRPr>
            </a:pPr>
          </a:p>
        </c:txPr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  <c:max val="3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5F646B"/>
                </a:solidFill>
                <a:latin typeface="Helvetica"/>
                <a:ea typeface="Helvetica"/>
              </a:defRPr>
            </a:pPr>
          </a:p>
        </c:txPr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solidFill xmlns:a="http://schemas.openxmlformats.org/drawingml/2006/main">
      <a:srgbClr val="F7F7F2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360000" y="180000"/>
            <a:ext cx="576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八类视觉呈现压测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8640000" y="180000"/>
            <a:ext cx="10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01 / 08</a:t>
            </a:r>
          </a:p>
        </p:txBody>
      </p:sp>
      <p:sp>
        <p:nvSpPr>
          <p:cNvPr id="100002" name="TextBox 3"/>
          <p:cNvSpPr/>
          <p:nvPr/>
        </p:nvSpPr>
        <p:spPr>
          <a:xfrm xmlns:a="http://schemas.openxmlformats.org/drawingml/2006/main">
            <a:off x="360000" y="486000"/>
            <a:ext cx="79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3" name="TextBox 4"/>
          <p:cNvSpPr txBox="1"/>
          <p:nvPr/>
        </p:nvSpPr>
        <p:spPr>
          <a:xfrm xmlns:a="http://schemas.openxmlformats.org/drawingml/2006/main">
            <a:off x="360000" y="1152000"/>
            <a:ext cx="4320000" cy="37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002FA7"/>
                </a:solidFill>
                <a:latin typeface="Menlo"/>
                <a:ea typeface="Menlo"/>
              </a:rPr>
              <a:t>TYPE</a:t>
            </a:r>
          </a:p>
        </p:txBody>
      </p:sp>
      <p:sp>
        <p:nvSpPr>
          <p:cNvPr id="100004" name="TextBox 5"/>
          <p:cNvSpPr txBox="1"/>
          <p:nvPr/>
        </p:nvSpPr>
        <p:spPr>
          <a:xfrm xmlns:a="http://schemas.openxmlformats.org/drawingml/2006/main">
            <a:off x="360000" y="1584000"/>
            <a:ext cx="8820000" cy="109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111111"/>
                </a:solidFill>
                <a:latin typeface="Helvetica"/>
                <a:ea typeface="PingFang SC"/>
              </a:rPr>
              <a:t>文字本身就是主视觉</a:t>
            </a:r>
          </a:p>
        </p:txBody>
      </p:sp>
      <p:sp>
        <p:nvSpPr>
          <p:cNvPr id="100005" name="TextBox 6"/>
          <p:cNvSpPr txBox="1"/>
          <p:nvPr/>
        </p:nvSpPr>
        <p:spPr>
          <a:xfrm xmlns:a="http://schemas.openxmlformats.org/drawingml/2006/main">
            <a:off x="360000" y="2880000"/>
            <a:ext cx="6840000" cy="66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2100">
                <a:solidFill>
                  <a:srgbClr val="5F646B"/>
                </a:solidFill>
                <a:latin typeface="Helvetica"/>
                <a:ea typeface="PingFang SC"/>
              </a:rPr>
              <a:t>层级、留白与单一强调共同承重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/>
      <p:sp>
        <p:nvSpPr>
          <p:cNvPr id="100006" name="TextBox 1"/>
          <p:cNvSpPr txBox="1"/>
          <p:nvPr/>
        </p:nvSpPr>
        <p:spPr>
          <a:xfrm xmlns:a="http://schemas.openxmlformats.org/drawingml/2006/main">
            <a:off x="360000" y="180000"/>
            <a:ext cx="576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八类视觉呈现压测</a:t>
            </a:r>
          </a:p>
        </p:txBody>
      </p:sp>
      <p:sp>
        <p:nvSpPr>
          <p:cNvPr id="100007" name="TextBox 2"/>
          <p:cNvSpPr txBox="1"/>
          <p:nvPr/>
        </p:nvSpPr>
        <p:spPr>
          <a:xfrm xmlns:a="http://schemas.openxmlformats.org/drawingml/2006/main">
            <a:off x="8640000" y="180000"/>
            <a:ext cx="10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02 / 08</a:t>
            </a:r>
          </a:p>
        </p:txBody>
      </p:sp>
      <p:sp>
        <p:nvSpPr>
          <p:cNvPr id="100008" name="TextBox 3"/>
          <p:cNvSpPr/>
          <p:nvPr/>
        </p:nvSpPr>
        <p:spPr>
          <a:xfrm xmlns:a="http://schemas.openxmlformats.org/drawingml/2006/main">
            <a:off x="360000" y="486000"/>
            <a:ext cx="79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9" name="TextBox 4"/>
          <p:cNvSpPr txBox="1"/>
          <p:nvPr/>
        </p:nvSpPr>
        <p:spPr>
          <a:xfrm xmlns:a="http://schemas.openxmlformats.org/drawingml/2006/main">
            <a:off x="360000" y="792000"/>
            <a:ext cx="8640000" cy="59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2900" b="1">
                <a:solidFill>
                  <a:srgbClr val="111111"/>
                </a:solidFill>
                <a:latin typeface="Helvetica"/>
                <a:ea typeface="PingFang SC"/>
              </a:rPr>
              <a:t>面板服务分组</a:t>
            </a:r>
          </a:p>
        </p:txBody>
      </p:sp>
      <p:sp>
        <p:nvSpPr>
          <p:cNvPr id="100010" name="TextBox 5"/>
          <p:cNvSpPr/>
          <p:nvPr/>
        </p:nvSpPr>
        <p:spPr>
          <a:xfrm xmlns:a="http://schemas.openxmlformats.org/drawingml/2006/main">
            <a:off x="360000" y="1620000"/>
            <a:ext cx="2724001" cy="264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BBC0"/>
            </a:solidFill>
          </a:ln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endParaRPr lang="en-US" sz="100">
              <a:solidFill>
                <a:srgbClr val="111111"/>
              </a:solidFill>
              <a:latin typeface="Helvetica"/>
              <a:ea typeface="PingFang SC"/>
            </a:endParaRPr>
          </a:p>
        </p:txBody>
      </p:sp>
      <p:sp>
        <p:nvSpPr>
          <p:cNvPr id="100011" name="TextBox 6"/>
          <p:cNvSpPr txBox="1"/>
          <p:nvPr/>
        </p:nvSpPr>
        <p:spPr>
          <a:xfrm xmlns:a="http://schemas.openxmlformats.org/drawingml/2006/main">
            <a:off x="360000" y="1872000"/>
            <a:ext cx="2724001" cy="5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002FA7"/>
                </a:solidFill>
                <a:latin typeface="Helvetica"/>
                <a:ea typeface="PingFang SC"/>
              </a:rPr>
              <a:t>输入</a:t>
            </a:r>
          </a:p>
        </p:txBody>
      </p:sp>
      <p:sp>
        <p:nvSpPr>
          <p:cNvPr id="100012" name="TextBox 7"/>
          <p:cNvSpPr txBox="1"/>
          <p:nvPr/>
        </p:nvSpPr>
        <p:spPr>
          <a:xfrm xmlns:a="http://schemas.openxmlformats.org/drawingml/2006/main">
            <a:off x="360000" y="2556000"/>
            <a:ext cx="2724001" cy="11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11111"/>
                </a:solidFill>
                <a:latin typeface="Helvetica"/>
                <a:ea typeface="PingFang SC"/>
              </a:rPr>
              <a:t>保持内容边界。</a:t>
            </a:r>
          </a:p>
        </p:txBody>
      </p:sp>
      <p:sp>
        <p:nvSpPr>
          <p:cNvPr id="100013" name="TextBox 8"/>
          <p:cNvSpPr/>
          <p:nvPr/>
        </p:nvSpPr>
        <p:spPr>
          <a:xfrm xmlns:a="http://schemas.openxmlformats.org/drawingml/2006/main">
            <a:off x="3318001" y="1620000"/>
            <a:ext cx="2724001" cy="264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BBC0"/>
            </a:solidFill>
          </a:ln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endParaRPr lang="en-US" sz="100">
              <a:solidFill>
                <a:srgbClr val="111111"/>
              </a:solidFill>
              <a:latin typeface="Helvetica"/>
              <a:ea typeface="PingFang SC"/>
            </a:endParaRPr>
          </a:p>
        </p:txBody>
      </p:sp>
      <p:sp>
        <p:nvSpPr>
          <p:cNvPr id="100014" name="TextBox 9"/>
          <p:cNvSpPr txBox="1"/>
          <p:nvPr/>
        </p:nvSpPr>
        <p:spPr>
          <a:xfrm xmlns:a="http://schemas.openxmlformats.org/drawingml/2006/main">
            <a:off x="3318001" y="1872000"/>
            <a:ext cx="2724001" cy="5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002FA7"/>
                </a:solidFill>
                <a:latin typeface="Helvetica"/>
                <a:ea typeface="PingFang SC"/>
              </a:rPr>
              <a:t>处理</a:t>
            </a:r>
          </a:p>
        </p:txBody>
      </p:sp>
      <p:sp>
        <p:nvSpPr>
          <p:cNvPr id="100015" name="TextBox 10"/>
          <p:cNvSpPr txBox="1"/>
          <p:nvPr/>
        </p:nvSpPr>
        <p:spPr>
          <a:xfrm xmlns:a="http://schemas.openxmlformats.org/drawingml/2006/main">
            <a:off x="3318001" y="2556000"/>
            <a:ext cx="2724001" cy="11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11111"/>
                </a:solidFill>
                <a:latin typeface="Helvetica"/>
                <a:ea typeface="PingFang SC"/>
              </a:rPr>
              <a:t>用容器表达分组。</a:t>
            </a:r>
          </a:p>
        </p:txBody>
      </p:sp>
      <p:sp>
        <p:nvSpPr>
          <p:cNvPr id="100016" name="TextBox 11"/>
          <p:cNvSpPr/>
          <p:nvPr/>
        </p:nvSpPr>
        <p:spPr>
          <a:xfrm xmlns:a="http://schemas.openxmlformats.org/drawingml/2006/main">
            <a:off x="6275988" y="1620000"/>
            <a:ext cx="2724001" cy="264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BBC0"/>
            </a:solidFill>
          </a:ln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endParaRPr lang="en-US" sz="100">
              <a:solidFill>
                <a:srgbClr val="111111"/>
              </a:solidFill>
              <a:latin typeface="Helvetica"/>
              <a:ea typeface="PingFang SC"/>
            </a:endParaRPr>
          </a:p>
        </p:txBody>
      </p:sp>
      <p:sp>
        <p:nvSpPr>
          <p:cNvPr id="100017" name="TextBox 12"/>
          <p:cNvSpPr txBox="1"/>
          <p:nvPr/>
        </p:nvSpPr>
        <p:spPr>
          <a:xfrm xmlns:a="http://schemas.openxmlformats.org/drawingml/2006/main">
            <a:off x="6275988" y="1872000"/>
            <a:ext cx="2724001" cy="5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002FA7"/>
                </a:solidFill>
                <a:latin typeface="Helvetica"/>
                <a:ea typeface="PingFang SC"/>
              </a:rPr>
              <a:t>输出</a:t>
            </a:r>
          </a:p>
        </p:txBody>
      </p:sp>
      <p:sp>
        <p:nvSpPr>
          <p:cNvPr id="100018" name="TextBox 13"/>
          <p:cNvSpPr txBox="1"/>
          <p:nvPr/>
        </p:nvSpPr>
        <p:spPr>
          <a:xfrm xmlns:a="http://schemas.openxmlformats.org/drawingml/2006/main">
            <a:off x="6275988" y="2556000"/>
            <a:ext cx="2724001" cy="11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11111"/>
                </a:solidFill>
                <a:latin typeface="Helvetica"/>
                <a:ea typeface="PingFang SC"/>
              </a:rPr>
              <a:t>保留阅读顺序。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/>
      <p:sp>
        <p:nvSpPr>
          <p:cNvPr id="100019" name="TextBox 1"/>
          <p:cNvSpPr txBox="1"/>
          <p:nvPr/>
        </p:nvSpPr>
        <p:spPr>
          <a:xfrm xmlns:a="http://schemas.openxmlformats.org/drawingml/2006/main">
            <a:off x="360000" y="180000"/>
            <a:ext cx="576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八类视觉呈现压测</a:t>
            </a:r>
          </a:p>
        </p:txBody>
      </p:sp>
      <p:sp>
        <p:nvSpPr>
          <p:cNvPr id="100020" name="TextBox 2"/>
          <p:cNvSpPr txBox="1"/>
          <p:nvPr/>
        </p:nvSpPr>
        <p:spPr>
          <a:xfrm xmlns:a="http://schemas.openxmlformats.org/drawingml/2006/main">
            <a:off x="8640000" y="180000"/>
            <a:ext cx="10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03 / 08</a:t>
            </a:r>
          </a:p>
        </p:txBody>
      </p:sp>
      <p:sp>
        <p:nvSpPr>
          <p:cNvPr id="100021" name="TextBox 3"/>
          <p:cNvSpPr/>
          <p:nvPr/>
        </p:nvSpPr>
        <p:spPr>
          <a:xfrm xmlns:a="http://schemas.openxmlformats.org/drawingml/2006/main">
            <a:off x="360000" y="486000"/>
            <a:ext cx="79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2" name="TextBox 4"/>
          <p:cNvSpPr txBox="1"/>
          <p:nvPr/>
        </p:nvSpPr>
        <p:spPr>
          <a:xfrm xmlns:a="http://schemas.openxmlformats.org/drawingml/2006/main">
            <a:off x="360000" y="864000"/>
            <a:ext cx="3312000" cy="91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2700" b="1">
                <a:solidFill>
                  <a:srgbClr val="111111"/>
                </a:solidFill>
                <a:latin typeface="Helvetica"/>
                <a:ea typeface="PingFang SC"/>
              </a:rPr>
              <a:t>数据关系保持可编辑</a:t>
            </a:r>
          </a:p>
        </p:txBody>
      </p:sp>
      <p:graphicFrame>
        <p:nvGraphicFramePr>
          <p:cNvPr id="100023" name="Chart 1"/>
          <p:cNvGraphicFramePr/>
          <p:nvPr/>
        </p:nvGraphicFramePr>
        <p:xfrm>
          <a:off xmlns:a="http://schemas.openxmlformats.org/drawingml/2006/main" x="3744000" y="1260000"/>
          <a:ext xmlns:a="http://schemas.openxmlformats.org/drawingml/2006/main" cx="5832000" cy="3312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2f153259c4047b3"/>
          </a:graphicData>
        </a:graphic>
      </p:graphicFrame>
      <p:sp>
        <p:nvSpPr>
          <p:cNvPr id="100024" name="TextBox 5"/>
          <p:cNvSpPr txBox="1"/>
          <p:nvPr/>
        </p:nvSpPr>
        <p:spPr>
          <a:xfrm xmlns:a="http://schemas.openxmlformats.org/drawingml/2006/main">
            <a:off x="360000" y="4608000"/>
            <a:ext cx="3312000" cy="37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507-ppt presentation registry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/>
      <p:sp>
        <p:nvSpPr>
          <p:cNvPr id="100025" name="TextBox 1"/>
          <p:cNvSpPr txBox="1"/>
          <p:nvPr/>
        </p:nvSpPr>
        <p:spPr>
          <a:xfrm xmlns:a="http://schemas.openxmlformats.org/drawingml/2006/main">
            <a:off x="360000" y="180000"/>
            <a:ext cx="576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八类视觉呈现压测</a:t>
            </a:r>
          </a:p>
        </p:txBody>
      </p:sp>
      <p:sp>
        <p:nvSpPr>
          <p:cNvPr id="100026" name="TextBox 2"/>
          <p:cNvSpPr txBox="1"/>
          <p:nvPr/>
        </p:nvSpPr>
        <p:spPr>
          <a:xfrm xmlns:a="http://schemas.openxmlformats.org/drawingml/2006/main">
            <a:off x="8640000" y="180000"/>
            <a:ext cx="10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04 / 08</a:t>
            </a:r>
          </a:p>
        </p:txBody>
      </p:sp>
      <p:sp>
        <p:nvSpPr>
          <p:cNvPr id="100027" name="TextBox 3"/>
          <p:cNvSpPr/>
          <p:nvPr/>
        </p:nvSpPr>
        <p:spPr>
          <a:xfrm xmlns:a="http://schemas.openxmlformats.org/drawingml/2006/main">
            <a:off x="360000" y="486000"/>
            <a:ext cx="79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8" name="TextBox 4"/>
          <p:cNvSpPr txBox="1"/>
          <p:nvPr/>
        </p:nvSpPr>
        <p:spPr>
          <a:xfrm xmlns:a="http://schemas.openxmlformats.org/drawingml/2006/main">
            <a:off x="360000" y="792000"/>
            <a:ext cx="8640000" cy="59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11111"/>
                </a:solidFill>
                <a:latin typeface="Helvetica"/>
                <a:ea typeface="PingFang SC"/>
              </a:rPr>
              <a:t>三条规则形成一页</a:t>
            </a:r>
          </a:p>
        </p:txBody>
      </p:sp>
      <p:sp>
        <p:nvSpPr>
          <p:cNvPr id="100029" name="TextBox 5"/>
          <p:cNvSpPr/>
          <p:nvPr/>
        </p:nvSpPr>
        <p:spPr>
          <a:xfrm xmlns:a="http://schemas.openxmlformats.org/drawingml/2006/main">
            <a:off x="360000" y="1620000"/>
            <a:ext cx="3888000" cy="63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BBC0"/>
            </a:solidFill>
          </a:ln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11111"/>
                </a:solidFill>
                <a:latin typeface="Helvetica"/>
                <a:ea typeface="PingFang SC"/>
              </a:rPr>
              <a:t>语义</a:t>
            </a:r>
          </a:p>
        </p:txBody>
      </p:sp>
      <p:sp>
        <p:nvSpPr>
          <p:cNvPr id="100030" name="TextBox 6"/>
          <p:cNvSpPr/>
          <p:nvPr/>
        </p:nvSpPr>
        <p:spPr>
          <a:xfrm xmlns:a="http://schemas.openxmlformats.org/drawingml/2006/main">
            <a:off x="4860000" y="1620000"/>
            <a:ext cx="3888000" cy="63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BBC0"/>
            </a:solidFill>
          </a:ln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11111"/>
                </a:solidFill>
                <a:latin typeface="Helvetica"/>
                <a:ea typeface="PingFang SC"/>
              </a:rPr>
              <a:t>语言</a:t>
            </a:r>
          </a:p>
        </p:txBody>
      </p:sp>
      <p:sp>
        <p:nvSpPr>
          <p:cNvPr id="100031" name="TextBox 7"/>
          <p:cNvSpPr/>
          <p:nvPr/>
        </p:nvSpPr>
        <p:spPr>
          <a:xfrm xmlns:a="http://schemas.openxmlformats.org/drawingml/2006/main">
            <a:off x="360000" y="2574000"/>
            <a:ext cx="3888000" cy="63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BBC0"/>
            </a:solidFill>
          </a:ln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11111"/>
                </a:solidFill>
                <a:latin typeface="Helvetica"/>
                <a:ea typeface="PingFang SC"/>
              </a:rPr>
              <a:t>呈现</a:t>
            </a:r>
          </a:p>
        </p:txBody>
      </p:sp>
      <p:sp>
        <p:nvSpPr>
          <p:cNvPr id="100032" name="TextBox 8"/>
          <p:cNvSpPr/>
          <p:nvPr/>
        </p:nvSpPr>
        <p:spPr>
          <a:xfrm xmlns:a="http://schemas.openxmlformats.org/drawingml/2006/main">
            <a:off x="4860000" y="2574000"/>
            <a:ext cx="3888000" cy="63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BBC0"/>
            </a:solidFill>
          </a:ln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11111"/>
                </a:solidFill>
                <a:latin typeface="Helvetica"/>
                <a:ea typeface="PingFang SC"/>
              </a:rPr>
              <a:t>页面</a:t>
            </a:r>
          </a:p>
        </p:txBody>
      </p:sp>
      <p:sp>
        <p:nvSpPr>
          <p:cNvPr id="100033" name="TextBox 9"/>
          <p:cNvSpPr txBox="1"/>
          <p:nvPr/>
        </p:nvSpPr>
        <p:spPr>
          <a:xfrm xmlns:a="http://schemas.openxmlformats.org/drawingml/2006/main">
            <a:off x="5040000" y="3780000"/>
            <a:ext cx="4320000" cy="99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002FA7"/>
                </a:solidFill>
                <a:latin typeface="Menlo"/>
                <a:ea typeface="Menlo"/>
              </a:rPr>
              <a:t>semantic → page  内容关系</a:t>
            </a:r>
          </a:p>
          <a:p xmlns:a="http://schemas.openxmlformats.org/drawingml/2006/main">
            <a:r>
              <a:rPr lang="en-US" sz="1200">
                <a:solidFill>
                  <a:srgbClr val="002FA7"/>
                </a:solidFill>
                <a:latin typeface="Menlo"/>
                <a:ea typeface="Menlo"/>
              </a:rPr>
              <a:t>language → page  整套规则</a:t>
            </a:r>
          </a:p>
          <a:p xmlns:a="http://schemas.openxmlformats.org/drawingml/2006/main">
            <a:r>
              <a:rPr lang="en-US" sz="1200">
                <a:solidFill>
                  <a:srgbClr val="002FA7"/>
                </a:solidFill>
                <a:latin typeface="Menlo"/>
                <a:ea typeface="Menlo"/>
              </a:rPr>
              <a:t>presentation → page  单页表现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/>
      <p:sp>
        <p:nvSpPr>
          <p:cNvPr id="100034" name="TextBox 1"/>
          <p:cNvSpPr txBox="1"/>
          <p:nvPr/>
        </p:nvSpPr>
        <p:spPr>
          <a:xfrm xmlns:a="http://schemas.openxmlformats.org/drawingml/2006/main">
            <a:off x="360000" y="180000"/>
            <a:ext cx="576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八类视觉呈现压测</a:t>
            </a:r>
          </a:p>
        </p:txBody>
      </p:sp>
      <p:sp>
        <p:nvSpPr>
          <p:cNvPr id="100035" name="TextBox 2"/>
          <p:cNvSpPr txBox="1"/>
          <p:nvPr/>
        </p:nvSpPr>
        <p:spPr>
          <a:xfrm xmlns:a="http://schemas.openxmlformats.org/drawingml/2006/main">
            <a:off x="8640000" y="180000"/>
            <a:ext cx="10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05 / 08</a:t>
            </a:r>
          </a:p>
        </p:txBody>
      </p:sp>
      <p:sp>
        <p:nvSpPr>
          <p:cNvPr id="100036" name="TextBox 3"/>
          <p:cNvSpPr/>
          <p:nvPr/>
        </p:nvSpPr>
        <p:spPr>
          <a:xfrm xmlns:a="http://schemas.openxmlformats.org/drawingml/2006/main">
            <a:off x="360000" y="486000"/>
            <a:ext cx="79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7" name="TextBox 4"/>
          <p:cNvSpPr txBox="1"/>
          <p:nvPr/>
        </p:nvSpPr>
        <p:spPr>
          <a:xfrm xmlns:a="http://schemas.openxmlformats.org/drawingml/2006/main">
            <a:off x="360000" y="810000"/>
            <a:ext cx="342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002FA7"/>
                </a:solidFill>
                <a:latin typeface="Menlo"/>
                <a:ea typeface="Menlo"/>
              </a:rPr>
              <a:t>PHOTO</a:t>
            </a:r>
          </a:p>
        </p:txBody>
      </p:sp>
      <p:sp>
        <p:nvSpPr>
          <p:cNvPr id="100038" name="TextBox 5"/>
          <p:cNvSpPr txBox="1"/>
          <p:nvPr/>
        </p:nvSpPr>
        <p:spPr>
          <a:xfrm xmlns:a="http://schemas.openxmlformats.org/drawingml/2006/main">
            <a:off x="360000" y="1080000"/>
            <a:ext cx="3420000" cy="70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11111"/>
                </a:solidFill>
                <a:latin typeface="Helvetica"/>
                <a:ea typeface="PingFang SC"/>
              </a:rPr>
              <a:t>素材占据主要画幅</a:t>
            </a:r>
          </a:p>
        </p:txBody>
      </p:sp>
      <p:sp>
        <p:nvSpPr>
          <p:cNvPr id="100039" name="TextBox 6"/>
          <p:cNvSpPr txBox="1"/>
          <p:nvPr/>
        </p:nvSpPr>
        <p:spPr>
          <a:xfrm xmlns:a="http://schemas.openxmlformats.org/drawingml/2006/main">
            <a:off x="360000" y="1908000"/>
            <a:ext cx="3420000" cy="12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5F646B"/>
                </a:solidFill>
                <a:latin typeface="Helvetica"/>
                <a:ea typeface="PingFang SC"/>
              </a:rPr>
              <a:t>图片负责证明，而不是装饰空白。</a:t>
            </a:r>
          </a:p>
        </p:txBody>
      </p:sp>
      <p:pic>
        <p:nvPicPr>
          <p:cNvPr id="100040" name="Picture 1" descr="抽象工作台视觉证据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5ce2cd9c6d4afe">
            <a:extLst>
              <a:ext uri="{96DAC541-7B7A-43D3-8B79-37D633B846F1}">
                <asvg:svgBlip xmlns:asvg="http://schemas.microsoft.com/office/drawing/2016/SVG/main" r:embed="R9f8309161d794c58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140000" y="1195877"/>
            <a:ext cx="5220000" cy="2936250"/>
          </a:xfrm>
          <a:prstGeom xmlns:a="http://schemas.openxmlformats.org/drawingml/2006/main" prst="rect">
            <a:avLst/>
          </a:prstGeom>
        </p:spPr>
      </p:pic>
      <p:sp>
        <p:nvSpPr>
          <p:cNvPr id="100041" name="TextBox 7"/>
          <p:cNvSpPr txBox="1"/>
          <p:nvPr/>
        </p:nvSpPr>
        <p:spPr>
          <a:xfrm xmlns:a="http://schemas.openxmlformats.org/drawingml/2006/main">
            <a:off x="4140000" y="4500000"/>
            <a:ext cx="5220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5F646B"/>
                </a:solidFill>
                <a:latin typeface="Menlo"/>
                <a:ea typeface="Menlo"/>
              </a:rPr>
              <a:t>摄影主导的证据位置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/>
      <p:sp>
        <p:nvSpPr>
          <p:cNvPr id="100042" name="TextBox 1"/>
          <p:cNvSpPr txBox="1"/>
          <p:nvPr/>
        </p:nvSpPr>
        <p:spPr>
          <a:xfrm xmlns:a="http://schemas.openxmlformats.org/drawingml/2006/main">
            <a:off x="360000" y="180000"/>
            <a:ext cx="576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八类视觉呈现压测</a:t>
            </a:r>
          </a:p>
        </p:txBody>
      </p:sp>
      <p:sp>
        <p:nvSpPr>
          <p:cNvPr id="100043" name="TextBox 2"/>
          <p:cNvSpPr txBox="1"/>
          <p:nvPr/>
        </p:nvSpPr>
        <p:spPr>
          <a:xfrm xmlns:a="http://schemas.openxmlformats.org/drawingml/2006/main">
            <a:off x="8640000" y="180000"/>
            <a:ext cx="10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06 / 08</a:t>
            </a:r>
          </a:p>
        </p:txBody>
      </p:sp>
      <p:sp>
        <p:nvSpPr>
          <p:cNvPr id="100044" name="TextBox 3"/>
          <p:cNvSpPr/>
          <p:nvPr/>
        </p:nvSpPr>
        <p:spPr>
          <a:xfrm xmlns:a="http://schemas.openxmlformats.org/drawingml/2006/main">
            <a:off x="360000" y="486000"/>
            <a:ext cx="79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5" name="TextBox 4"/>
          <p:cNvSpPr txBox="1"/>
          <p:nvPr/>
        </p:nvSpPr>
        <p:spPr>
          <a:xfrm xmlns:a="http://schemas.openxmlformats.org/drawingml/2006/main">
            <a:off x="360000" y="810000"/>
            <a:ext cx="414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002FA7"/>
                </a:solidFill>
                <a:latin typeface="Menlo"/>
                <a:ea typeface="Menlo"/>
              </a:rPr>
              <a:t>UI</a:t>
            </a:r>
          </a:p>
        </p:txBody>
      </p:sp>
      <p:sp>
        <p:nvSpPr>
          <p:cNvPr id="100046" name="TextBox 5"/>
          <p:cNvSpPr txBox="1"/>
          <p:nvPr/>
        </p:nvSpPr>
        <p:spPr>
          <a:xfrm xmlns:a="http://schemas.openxmlformats.org/drawingml/2006/main">
            <a:off x="360000" y="1080000"/>
            <a:ext cx="4140000" cy="70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2700" b="1">
                <a:solidFill>
                  <a:srgbClr val="111111"/>
                </a:solidFill>
                <a:latin typeface="Helvetica"/>
                <a:ea typeface="PingFang SC"/>
              </a:rPr>
              <a:t>界面进入产品框架</a:t>
            </a:r>
          </a:p>
        </p:txBody>
      </p:sp>
      <p:sp>
        <p:nvSpPr>
          <p:cNvPr id="100047" name="TextBox 6"/>
          <p:cNvSpPr txBox="1"/>
          <p:nvPr/>
        </p:nvSpPr>
        <p:spPr>
          <a:xfrm xmlns:a="http://schemas.openxmlformats.org/drawingml/2006/main">
            <a:off x="360000" y="1908000"/>
            <a:ext cx="4140000" cy="12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5F646B"/>
                </a:solidFill>
                <a:latin typeface="Helvetica"/>
                <a:ea typeface="PingFang SC"/>
              </a:rPr>
              <a:t>边框、留白与 caption 说明这是产品证据。</a:t>
            </a:r>
          </a:p>
        </p:txBody>
      </p:sp>
      <p:sp>
        <p:nvSpPr>
          <p:cNvPr id="100048" name="TextBox 7"/>
          <p:cNvSpPr/>
          <p:nvPr/>
        </p:nvSpPr>
        <p:spPr>
          <a:xfrm xmlns:a="http://schemas.openxmlformats.org/drawingml/2006/main">
            <a:off x="4842000" y="882000"/>
            <a:ext cx="4716000" cy="340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BBC0"/>
            </a:solidFill>
          </a:ln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endParaRPr lang="en-US" sz="100">
              <a:solidFill>
                <a:srgbClr val="111111"/>
              </a:solidFill>
              <a:latin typeface="Helvetica"/>
              <a:ea typeface="PingFang SC"/>
            </a:endParaRPr>
          </a:p>
        </p:txBody>
      </p:sp>
      <p:pic>
        <p:nvPicPr>
          <p:cNvPr id="100049" name="Picture 1" descr="包含文件、编辑器和预览区的抽象产品界面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5a3df2dcdc45a0">
            <a:extLst>
              <a:ext uri="{96DAC541-7B7A-43D3-8B79-37D633B846F1}">
                <asvg:svgBlip xmlns:asvg="http://schemas.microsoft.com/office/drawing/2016/SVG/main" r:embed="R2513ef05299f4221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680000" y="1924873"/>
            <a:ext cx="1476000" cy="830250"/>
          </a:xfrm>
          <a:prstGeom xmlns:a="http://schemas.openxmlformats.org/drawingml/2006/main" prst="rect">
            <a:avLst/>
          </a:prstGeom>
        </p:spPr>
      </p:pic>
      <p:sp>
        <p:nvSpPr>
          <p:cNvPr id="100050" name="TextBox 8"/>
          <p:cNvSpPr txBox="1"/>
          <p:nvPr/>
        </p:nvSpPr>
        <p:spPr>
          <a:xfrm xmlns:a="http://schemas.openxmlformats.org/drawingml/2006/main">
            <a:off x="4680000" y="3564000"/>
            <a:ext cx="1476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5F646B"/>
                </a:solidFill>
                <a:latin typeface="Menlo"/>
                <a:ea typeface="Menlo"/>
              </a:rPr>
              <a:t>产品界面主导的证据位置</a:t>
            </a:r>
          </a:p>
        </p:txBody>
      </p:sp>
      <p:pic>
        <p:nvPicPr>
          <p:cNvPr id="100051" name="Picture 2" descr="抽象产品界面的编辑器状态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2a11a72765441a">
            <a:extLst>
              <a:ext uri="{96DAC541-7B7A-43D3-8B79-37D633B846F1}">
                <asvg:svgBlip xmlns:asvg="http://schemas.microsoft.com/office/drawing/2016/SVG/main" r:embed="R5f94cfdccbc64765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82000" y="1924873"/>
            <a:ext cx="1476000" cy="830250"/>
          </a:xfrm>
          <a:prstGeom xmlns:a="http://schemas.openxmlformats.org/drawingml/2006/main" prst="rect">
            <a:avLst/>
          </a:prstGeom>
        </p:spPr>
      </p:pic>
      <p:sp>
        <p:nvSpPr>
          <p:cNvPr id="100052" name="TextBox 9"/>
          <p:cNvSpPr txBox="1"/>
          <p:nvPr/>
        </p:nvSpPr>
        <p:spPr>
          <a:xfrm xmlns:a="http://schemas.openxmlformats.org/drawingml/2006/main">
            <a:off x="6282000" y="3564000"/>
            <a:ext cx="1476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5F646B"/>
                </a:solidFill>
                <a:latin typeface="Menlo"/>
                <a:ea typeface="Menlo"/>
              </a:rPr>
              <a:t>编辑状态</a:t>
            </a:r>
          </a:p>
        </p:txBody>
      </p:sp>
      <p:pic>
        <p:nvPicPr>
          <p:cNvPr id="100053" name="Picture 3" descr="抽象产品界面的预览状态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1b703af3db457a">
            <a:extLst>
              <a:ext uri="{96DAC541-7B7A-43D3-8B79-37D633B846F1}">
                <asvg:svgBlip xmlns:asvg="http://schemas.microsoft.com/office/drawing/2016/SVG/main" r:embed="R5d9399f41c554fec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884000" y="1924873"/>
            <a:ext cx="1476000" cy="830250"/>
          </a:xfrm>
          <a:prstGeom xmlns:a="http://schemas.openxmlformats.org/drawingml/2006/main" prst="rect">
            <a:avLst/>
          </a:prstGeom>
        </p:spPr>
      </p:pic>
      <p:sp>
        <p:nvSpPr>
          <p:cNvPr id="100054" name="TextBox 10"/>
          <p:cNvSpPr txBox="1"/>
          <p:nvPr/>
        </p:nvSpPr>
        <p:spPr>
          <a:xfrm xmlns:a="http://schemas.openxmlformats.org/drawingml/2006/main">
            <a:off x="7884000" y="3564000"/>
            <a:ext cx="1476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5F646B"/>
                </a:solidFill>
                <a:latin typeface="Menlo"/>
                <a:ea typeface="Menlo"/>
              </a:rPr>
              <a:t>预览状态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/>
      <p:sp>
        <p:nvSpPr>
          <p:cNvPr id="100055" name="TextBox 1"/>
          <p:cNvSpPr txBox="1"/>
          <p:nvPr/>
        </p:nvSpPr>
        <p:spPr>
          <a:xfrm xmlns:a="http://schemas.openxmlformats.org/drawingml/2006/main">
            <a:off x="360000" y="180000"/>
            <a:ext cx="576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F7F7F2"/>
                </a:solidFill>
                <a:latin typeface="Menlo"/>
                <a:ea typeface="Menlo"/>
              </a:rPr>
              <a:t>八类视觉呈现压测</a:t>
            </a:r>
          </a:p>
        </p:txBody>
      </p:sp>
      <p:sp>
        <p:nvSpPr>
          <p:cNvPr id="100056" name="TextBox 2"/>
          <p:cNvSpPr txBox="1"/>
          <p:nvPr/>
        </p:nvSpPr>
        <p:spPr>
          <a:xfrm xmlns:a="http://schemas.openxmlformats.org/drawingml/2006/main">
            <a:off x="8640000" y="180000"/>
            <a:ext cx="10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F7F7F2"/>
                </a:solidFill>
                <a:latin typeface="Menlo"/>
                <a:ea typeface="Menlo"/>
              </a:rPr>
              <a:t>07 / 08</a:t>
            </a:r>
          </a:p>
        </p:txBody>
      </p:sp>
      <p:sp>
        <p:nvSpPr>
          <p:cNvPr id="100057" name="TextBox 3"/>
          <p:cNvSpPr/>
          <p:nvPr/>
        </p:nvSpPr>
        <p:spPr>
          <a:xfrm xmlns:a="http://schemas.openxmlformats.org/drawingml/2006/main">
            <a:off x="360000" y="486000"/>
            <a:ext cx="79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8" name="TextBox 4"/>
          <p:cNvSpPr txBox="1"/>
          <p:nvPr/>
        </p:nvSpPr>
        <p:spPr>
          <a:xfrm xmlns:a="http://schemas.openxmlformats.org/drawingml/2006/main">
            <a:off x="360000" y="540000"/>
            <a:ext cx="1080000" cy="12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6200">
                <a:solidFill>
                  <a:srgbClr val="002FA7"/>
                </a:solidFill>
                <a:latin typeface="Helvetica"/>
                <a:ea typeface="PingFang SC"/>
              </a:rPr>
              <a:t>“</a:t>
            </a:r>
          </a:p>
        </p:txBody>
      </p:sp>
      <p:sp>
        <p:nvSpPr>
          <p:cNvPr id="100059" name="TextBox 5"/>
          <p:cNvSpPr/>
          <p:nvPr/>
        </p:nvSpPr>
        <p:spPr>
          <a:xfrm xmlns:a="http://schemas.openxmlformats.org/drawingml/2006/main">
            <a:off x="558000" y="1620000"/>
            <a:ext cx="28800" cy="239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endParaRPr lang="en-US" sz="100">
              <a:solidFill>
                <a:srgbClr val="002FA7"/>
              </a:solidFill>
              <a:latin typeface="Helvetica"/>
              <a:ea typeface="PingFang SC"/>
            </a:endParaRPr>
          </a:p>
        </p:txBody>
      </p:sp>
      <p:sp>
        <p:nvSpPr>
          <p:cNvPr id="100060" name="TextBox 6"/>
          <p:cNvSpPr txBox="1"/>
          <p:nvPr/>
        </p:nvSpPr>
        <p:spPr>
          <a:xfrm xmlns:a="http://schemas.openxmlformats.org/drawingml/2006/main">
            <a:off x="864000" y="1800000"/>
            <a:ext cx="8280000" cy="174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3500" b="1">
                <a:solidFill>
                  <a:srgbClr val="F7F7F2"/>
                </a:solidFill>
                <a:latin typeface="Helvetica"/>
                <a:ea typeface="PingFang SC"/>
              </a:rPr>
              <a:t>规则线只服务层级，</a:t>
            </a:r>
            <a:br/>
            <a:r>
              <a:rPr lang="en-US" sz="3500" b="1">
                <a:solidFill>
                  <a:srgbClr val="F7F7F2"/>
                </a:solidFill>
                <a:latin typeface="Helvetica"/>
                <a:ea typeface="PingFang SC"/>
              </a:rPr>
              <a:t>不与内容争夺主角。</a:t>
            </a:r>
          </a:p>
        </p:txBody>
      </p:sp>
      <p:sp>
        <p:nvSpPr>
          <p:cNvPr id="100061" name="TextBox 7"/>
          <p:cNvSpPr txBox="1"/>
          <p:nvPr/>
        </p:nvSpPr>
        <p:spPr>
          <a:xfrm xmlns:a="http://schemas.openxmlformats.org/drawingml/2006/main">
            <a:off x="864000" y="4176000"/>
            <a:ext cx="4320000" cy="34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002FA7"/>
                </a:solidFill>
                <a:latin typeface="Menlo"/>
                <a:ea typeface="Menlo"/>
              </a:rPr>
              <a:t>507-ppt 组合质量合同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/>
      <p:sp>
        <p:nvSpPr>
          <p:cNvPr id="100062" name="TextBox 1"/>
          <p:cNvSpPr txBox="1"/>
          <p:nvPr/>
        </p:nvSpPr>
        <p:spPr>
          <a:xfrm xmlns:a="http://schemas.openxmlformats.org/drawingml/2006/main">
            <a:off x="360000" y="180000"/>
            <a:ext cx="576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八类视觉呈现压测</a:t>
            </a:r>
          </a:p>
        </p:txBody>
      </p:sp>
      <p:sp>
        <p:nvSpPr>
          <p:cNvPr id="100063" name="TextBox 2"/>
          <p:cNvSpPr txBox="1"/>
          <p:nvPr/>
        </p:nvSpPr>
        <p:spPr>
          <a:xfrm xmlns:a="http://schemas.openxmlformats.org/drawingml/2006/main">
            <a:off x="8640000" y="180000"/>
            <a:ext cx="10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08 / 08</a:t>
            </a:r>
          </a:p>
        </p:txBody>
      </p:sp>
      <p:sp>
        <p:nvSpPr>
          <p:cNvPr id="100064" name="TextBox 3"/>
          <p:cNvSpPr/>
          <p:nvPr/>
        </p:nvSpPr>
        <p:spPr>
          <a:xfrm xmlns:a="http://schemas.openxmlformats.org/drawingml/2006/main">
            <a:off x="360000" y="486000"/>
            <a:ext cx="79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5" name="TextBox 4"/>
          <p:cNvSpPr/>
          <p:nvPr/>
        </p:nvSpPr>
        <p:spPr>
          <a:xfrm xmlns:a="http://schemas.openxmlformats.org/drawingml/2006/main">
            <a:off x="54000" y="756000"/>
            <a:ext cx="108000" cy="401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endParaRPr lang="en-US" sz="100">
              <a:solidFill>
                <a:srgbClr val="002FA7"/>
              </a:solidFill>
              <a:latin typeface="Helvetica"/>
              <a:ea typeface="PingFang SC"/>
            </a:endParaRPr>
          </a:p>
        </p:txBody>
      </p:sp>
      <p:sp>
        <p:nvSpPr>
          <p:cNvPr id="100066" name="TextBox 5"/>
          <p:cNvSpPr txBox="1"/>
          <p:nvPr/>
        </p:nvSpPr>
        <p:spPr>
          <a:xfrm xmlns:a="http://schemas.openxmlformats.org/drawingml/2006/main">
            <a:off x="360000" y="792000"/>
            <a:ext cx="8640000" cy="59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11111"/>
                </a:solidFill>
                <a:latin typeface="Helvetica"/>
                <a:ea typeface="PingFang SC"/>
              </a:rPr>
              <a:t>从判断走到交付</a:t>
            </a:r>
          </a:p>
        </p:txBody>
      </p:sp>
      <p:sp>
        <p:nvSpPr>
          <p:cNvPr id="100067" name="TextBox 6"/>
          <p:cNvSpPr/>
          <p:nvPr/>
        </p:nvSpPr>
        <p:spPr>
          <a:xfrm xmlns:a="http://schemas.openxmlformats.org/drawingml/2006/main">
            <a:off x="360000" y="1674000"/>
            <a:ext cx="2724001" cy="221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7F2"/>
          </a:solidFill>
          <a:ln xmlns:a="http://schemas.openxmlformats.org/drawingml/2006/main" w="15875">
            <a:solidFill>
              <a:srgbClr val="002FA7"/>
            </a:solidFill>
          </a:ln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endParaRPr lang="en-US" sz="100">
              <a:solidFill>
                <a:srgbClr val="111111"/>
              </a:solidFill>
              <a:latin typeface="Helvetica"/>
              <a:ea typeface="PingFang SC"/>
            </a:endParaRPr>
          </a:p>
        </p:txBody>
      </p:sp>
      <p:sp>
        <p:nvSpPr>
          <p:cNvPr id="100068" name="TextBox 7"/>
          <p:cNvSpPr txBox="1"/>
          <p:nvPr/>
        </p:nvSpPr>
        <p:spPr>
          <a:xfrm xmlns:a="http://schemas.openxmlformats.org/drawingml/2006/main">
            <a:off x="360000" y="1872000"/>
            <a:ext cx="2724001" cy="5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2300" b="1">
                <a:solidFill>
                  <a:srgbClr val="002FA7"/>
                </a:solidFill>
                <a:latin typeface="Helvetica"/>
                <a:ea typeface="PingFang SC"/>
              </a:rPr>
              <a:t>01 · 看内容</a:t>
            </a:r>
          </a:p>
        </p:txBody>
      </p:sp>
      <p:sp>
        <p:nvSpPr>
          <p:cNvPr id="100069" name="TextBox 8"/>
          <p:cNvSpPr txBox="1"/>
          <p:nvPr/>
        </p:nvSpPr>
        <p:spPr>
          <a:xfrm xmlns:a="http://schemas.openxmlformats.org/drawingml/2006/main">
            <a:off x="360000" y="2556000"/>
            <a:ext cx="2724001" cy="11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111111"/>
                </a:solidFill>
                <a:latin typeface="Helvetica"/>
                <a:ea typeface="PingFang SC"/>
              </a:rPr>
              <a:t>识别页面关系。</a:t>
            </a:r>
          </a:p>
        </p:txBody>
      </p:sp>
      <p:sp>
        <p:nvSpPr>
          <p:cNvPr id="100070" name="TextBox 9"/>
          <p:cNvSpPr/>
          <p:nvPr/>
        </p:nvSpPr>
        <p:spPr>
          <a:xfrm xmlns:a="http://schemas.openxmlformats.org/drawingml/2006/main">
            <a:off x="3318001" y="1674000"/>
            <a:ext cx="2724001" cy="221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7F2"/>
          </a:solidFill>
          <a:ln xmlns:a="http://schemas.openxmlformats.org/drawingml/2006/main" w="15875">
            <a:solidFill>
              <a:srgbClr val="002FA7"/>
            </a:solidFill>
          </a:ln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endParaRPr lang="en-US" sz="100">
              <a:solidFill>
                <a:srgbClr val="111111"/>
              </a:solidFill>
              <a:latin typeface="Helvetica"/>
              <a:ea typeface="PingFang SC"/>
            </a:endParaRPr>
          </a:p>
        </p:txBody>
      </p:sp>
      <p:sp>
        <p:nvSpPr>
          <p:cNvPr id="100071" name="TextBox 10"/>
          <p:cNvSpPr txBox="1"/>
          <p:nvPr/>
        </p:nvSpPr>
        <p:spPr>
          <a:xfrm xmlns:a="http://schemas.openxmlformats.org/drawingml/2006/main">
            <a:off x="3318001" y="1872000"/>
            <a:ext cx="2724001" cy="5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2300" b="1">
                <a:solidFill>
                  <a:srgbClr val="002FA7"/>
                </a:solidFill>
                <a:latin typeface="Helvetica"/>
                <a:ea typeface="PingFang SC"/>
              </a:rPr>
              <a:t>02 · 做原型</a:t>
            </a:r>
          </a:p>
        </p:txBody>
      </p:sp>
      <p:sp>
        <p:nvSpPr>
          <p:cNvPr id="100072" name="TextBox 11"/>
          <p:cNvSpPr txBox="1"/>
          <p:nvPr/>
        </p:nvSpPr>
        <p:spPr>
          <a:xfrm xmlns:a="http://schemas.openxmlformats.org/drawingml/2006/main">
            <a:off x="3318001" y="2556000"/>
            <a:ext cx="2724001" cy="11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111111"/>
                </a:solidFill>
                <a:latin typeface="Helvetica"/>
                <a:ea typeface="PingFang SC"/>
              </a:rPr>
              <a:t>比较真实组合。</a:t>
            </a:r>
          </a:p>
        </p:txBody>
      </p:sp>
      <p:sp>
        <p:nvSpPr>
          <p:cNvPr id="100073" name="TextBox 12"/>
          <p:cNvSpPr/>
          <p:nvPr/>
        </p:nvSpPr>
        <p:spPr>
          <a:xfrm xmlns:a="http://schemas.openxmlformats.org/drawingml/2006/main">
            <a:off x="6275988" y="1674000"/>
            <a:ext cx="2724001" cy="221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7F2"/>
          </a:solidFill>
          <a:ln xmlns:a="http://schemas.openxmlformats.org/drawingml/2006/main" w="15875">
            <a:solidFill>
              <a:srgbClr val="002FA7"/>
            </a:solidFill>
          </a:ln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endParaRPr lang="en-US" sz="100">
              <a:solidFill>
                <a:srgbClr val="111111"/>
              </a:solidFill>
              <a:latin typeface="Helvetica"/>
              <a:ea typeface="PingFang SC"/>
            </a:endParaRPr>
          </a:p>
        </p:txBody>
      </p:sp>
      <p:sp>
        <p:nvSpPr>
          <p:cNvPr id="100074" name="TextBox 13"/>
          <p:cNvSpPr txBox="1"/>
          <p:nvPr/>
        </p:nvSpPr>
        <p:spPr>
          <a:xfrm xmlns:a="http://schemas.openxmlformats.org/drawingml/2006/main">
            <a:off x="6275988" y="1872000"/>
            <a:ext cx="2724001" cy="5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2300" b="1">
                <a:solidFill>
                  <a:srgbClr val="002FA7"/>
                </a:solidFill>
                <a:latin typeface="Helvetica"/>
                <a:ea typeface="PingFang SC"/>
              </a:rPr>
              <a:t>03 · 再生成</a:t>
            </a:r>
          </a:p>
        </p:txBody>
      </p:sp>
      <p:sp>
        <p:nvSpPr>
          <p:cNvPr id="100075" name="TextBox 14"/>
          <p:cNvSpPr txBox="1"/>
          <p:nvPr/>
        </p:nvSpPr>
        <p:spPr>
          <a:xfrm xmlns:a="http://schemas.openxmlformats.org/drawingml/2006/main">
            <a:off x="6275988" y="2556000"/>
            <a:ext cx="2724001" cy="11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111111"/>
                </a:solidFill>
                <a:latin typeface="Helvetica"/>
                <a:ea typeface="PingFang SC"/>
              </a:rPr>
              <a:t>保留确认证据。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OfficeCLI/1.0.149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2026-09-26T03:49:45Z</dcterms:created>
  <cp:lastModifiedBy>OfficeCLI</cp:lastModifiedBy>
  <dcterms:modified xsi:type="dcterms:W3CDTF">2026-09-26T03:49:45Z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1.0.149</vt:lpwstr>
  </op:property>
  <op:property fmtid="{D5CDD505-2E9C-101B-9397-08002B2CF9AE}" pid="3" name="OfficeCLI.LastModified">
    <vt:lpwstr xmlns:vt="http://schemas.openxmlformats.org/officeDocument/2006/docPropsVTypes">2026-09-26T03:50:01Z</vt:lpwstr>
  </op:property>
</op:Properties>
</file>