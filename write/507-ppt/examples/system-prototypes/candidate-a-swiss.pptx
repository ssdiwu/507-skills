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svg" ContentType="image/svg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bca84f9600324b2a" /><Relationship Type="http://schemas.openxmlformats.org/package/2006/relationships/metadata/core-properties" Target="/docProps/core.xml" Id="R26311e16f801482b" /><Relationship Type="http://schemas.openxmlformats.org/officeDocument/2006/relationships/extended-properties" Target="/docProps/app.xml" Id="R8fe185993f83415c" /><Relationship Type="http://schemas.openxmlformats.org/officeDocument/2006/relationships/custom-properties" Target="/docProps/custom.xml" Id="Rd85fa4d23855488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dc82da29dde34d08"/>
  </p:notesMasterIdLst>
  <p:sldIdLst>
    <p:sldId id="256" r:id="R501629665df6424e"/>
    <p:sldId id="257" r:id="Rfadc41eb83964f9c"/>
    <p:sldId id="258" r:id="Rb02cb8804f4a43d8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501629665df6424e" /><Relationship Type="http://schemas.openxmlformats.org/officeDocument/2006/relationships/slide" Target="/ppt/slides/slide2.xml" Id="Rfadc41eb83964f9c" /><Relationship Type="http://schemas.openxmlformats.org/officeDocument/2006/relationships/slide" Target="/ppt/slides/slide3.xml" Id="Rb02cb8804f4a43d8" /><Relationship Type="http://schemas.openxmlformats.org/officeDocument/2006/relationships/notesMaster" Target="/ppt/notesMasters/notesMaster1.xml" Id="Rdc82da29dde34d0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c3a2718bd9c4b92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等线"/>
        <a:cs typeface=""/>
      </a:majorFont>
      <a:minorFont>
        <a:latin typeface="Calibri"/>
        <a:ea typeface="等线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9735d8602a94b00" /><Relationship Type="http://schemas.openxmlformats.org/officeDocument/2006/relationships/slide" Target="/ppt/slides/slide1.xml" Id="R8e57adcdd5a345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4b9512dfd9b4456" /><Relationship Type="http://schemas.openxmlformats.org/officeDocument/2006/relationships/slide" Target="/ppt/slides/slide2.xml" Id="R6902fc577bb74c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6b45107fa91418c" /><Relationship Type="http://schemas.openxmlformats.org/officeDocument/2006/relationships/slide" Target="/ppt/slides/slide3.xml" Id="R0b2b0dbe6cf64e6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介绍三轴系统。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说明素材职责。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逐项说明六种设计语言均可与兼容呈现组合。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291d109040465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11b6f5a8484b2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f18a7b75ce4a4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2974777fc84d6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cf40db4a0546ea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259515bb42a04822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28212ef3a64b8b" /><Relationship Type="http://schemas.openxmlformats.org/officeDocument/2006/relationships/notesSlide" Target="/ppt/notesSlides/notesSlide1.xml" Id="Re17302422b5b4cc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06e33a793848a1" /><Relationship Type="http://schemas.openxmlformats.org/officeDocument/2006/relationships/image" Target="/ppt/media/image.svg" Id="R656848ab00c34b9e" /><Relationship Type="http://schemas.openxmlformats.org/officeDocument/2006/relationships/image" Target="/ppt/media/image.png" Id="R5c15ee3fd889485b" /><Relationship Type="http://schemas.openxmlformats.org/officeDocument/2006/relationships/notesSlide" Target="/ppt/notesSlides/notesSlide2.xml" Id="R223d45947cf742e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6d0a30cc3b4e86" /><Relationship Type="http://schemas.openxmlformats.org/officeDocument/2006/relationships/notesSlide" Target="/ppt/notesSlides/notesSlide3.xml" Id="R09cf8988d32d45e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三轴视觉系统展示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01 / 03</a:t>
            </a:r>
          </a:p>
        </p:txBody>
      </p:sp>
      <p:sp>
        <p:nvSpPr>
          <p:cNvPr id="100002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360000" y="1152000"/>
            <a:ext cx="4320000" cy="37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400">
                <a:solidFill>
                  <a:srgbClr val="002FA7"/>
                </a:solidFill>
                <a:latin typeface="Menlo"/>
                <a:ea typeface="Menlo"/>
              </a:rPr>
              <a:t>507-ppt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360000" y="1584000"/>
            <a:ext cx="8820000" cy="109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4400" b="1">
                <a:solidFill>
                  <a:srgbClr val="111111"/>
                </a:solidFill>
                <a:latin typeface="Helvetica"/>
                <a:ea typeface="PingFang SC"/>
              </a:rPr>
              <a:t>三轴视觉系统</a:t>
            </a:r>
          </a:p>
        </p:txBody>
      </p:sp>
      <p:sp>
        <p:nvSpPr>
          <p:cNvPr id="100005" name="TextBox 6"/>
          <p:cNvSpPr txBox="1"/>
          <p:nvPr/>
        </p:nvSpPr>
        <p:spPr>
          <a:xfrm xmlns:a="http://schemas.openxmlformats.org/drawingml/2006/main">
            <a:off x="360000" y="2880000"/>
            <a:ext cx="6840000" cy="66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100">
                <a:solidFill>
                  <a:srgbClr val="5F646B"/>
                </a:solidFill>
                <a:latin typeface="Helvetica"/>
                <a:ea typeface="PingFang SC"/>
              </a:rPr>
              <a:t>语义组件 × 设计语言 × 视觉呈现</a:t>
            </a:r>
          </a:p>
        </p:txBody>
      </p:sp>
      <p:sp>
        <p:nvSpPr>
          <p:cNvPr id="100006" name="TextBox 7"/>
          <p:cNvSpPr txBox="1"/>
          <p:nvPr/>
        </p:nvSpPr>
        <p:spPr>
          <a:xfrm xmlns:a="http://schemas.openxmlformats.org/drawingml/2006/main">
            <a:off x="360000" y="5184000"/>
            <a:ext cx="540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公开 fixture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07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三轴视觉系统展示</a:t>
            </a:r>
          </a:p>
        </p:txBody>
      </p:sp>
      <p:sp>
        <p:nvSpPr>
          <p:cNvPr id="100008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02 / 03</a:t>
            </a:r>
          </a:p>
        </p:txBody>
      </p:sp>
      <p:sp>
        <p:nvSpPr>
          <p:cNvPr id="100009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0" name="TextBox 4"/>
          <p:cNvSpPr txBox="1"/>
          <p:nvPr/>
        </p:nvSpPr>
        <p:spPr>
          <a:xfrm xmlns:a="http://schemas.openxmlformats.org/drawingml/2006/main">
            <a:off x="360000" y="810000"/>
            <a:ext cx="3420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002FA7"/>
                </a:solidFill>
                <a:latin typeface="Menlo"/>
                <a:ea typeface="Menlo"/>
              </a:rPr>
              <a:t>证据</a:t>
            </a:r>
          </a:p>
        </p:txBody>
      </p:sp>
      <p:sp>
        <p:nvSpPr>
          <p:cNvPr id="100011" name="TextBox 5"/>
          <p:cNvSpPr txBox="1"/>
          <p:nvPr/>
        </p:nvSpPr>
        <p:spPr>
          <a:xfrm xmlns:a="http://schemas.openxmlformats.org/drawingml/2006/main">
            <a:off x="360000" y="1080000"/>
            <a:ext cx="3420000" cy="70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11111"/>
                </a:solidFill>
                <a:latin typeface="Helvetica"/>
                <a:ea typeface="PingFang SC"/>
              </a:rPr>
              <a:t>素材承担一个问题</a:t>
            </a:r>
          </a:p>
        </p:txBody>
      </p:sp>
      <p:sp>
        <p:nvSpPr>
          <p:cNvPr id="100012" name="TextBox 6"/>
          <p:cNvSpPr txBox="1"/>
          <p:nvPr/>
        </p:nvSpPr>
        <p:spPr>
          <a:xfrm xmlns:a="http://schemas.openxmlformats.org/drawingml/2006/main">
            <a:off x="360000" y="1908000"/>
            <a:ext cx="3420000" cy="12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5F646B"/>
                </a:solidFill>
                <a:latin typeface="Helvetica"/>
                <a:ea typeface="PingFang SC"/>
              </a:rPr>
              <a:t>图像应证明内容，而不是填满空白。</a:t>
            </a:r>
          </a:p>
        </p:txBody>
      </p:sp>
      <p:pic>
        <p:nvPicPr>
          <p:cNvPr id="100013" name="Picture 1" descr="包含文件、编辑器和预览区域的抽象工作台示意图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15ee3fd889485b">
            <a:extLst>
              <a:ext uri="{96DAC541-7B7A-43D3-8B79-37D633B846F1}">
                <asvg:svgBlip xmlns:asvg="http://schemas.microsoft.com/office/drawing/2016/SVG/main" r:embed="R656848ab00c34b9e"/>
              </a:ext>
            </a:extLst>
          </a:blip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140000" y="1195877"/>
            <a:ext cx="5220000" cy="2936250"/>
          </a:xfrm>
          <a:prstGeom xmlns:a="http://schemas.openxmlformats.org/drawingml/2006/main" prst="rect">
            <a:avLst/>
          </a:prstGeom>
        </p:spPr>
      </p:pic>
      <p:sp>
        <p:nvSpPr>
          <p:cNvPr id="100014" name="TextBox 7"/>
          <p:cNvSpPr txBox="1"/>
          <p:nvPr/>
        </p:nvSpPr>
        <p:spPr>
          <a:xfrm xmlns:a="http://schemas.openxmlformats.org/drawingml/2006/main">
            <a:off x="4140000" y="4500000"/>
            <a:ext cx="5220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1000">
                <a:solidFill>
                  <a:srgbClr val="5F646B"/>
                </a:solidFill>
                <a:latin typeface="Menlo"/>
                <a:ea typeface="Menlo"/>
              </a:rPr>
              <a:t>抽象工作台示意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360000" y="180000"/>
            <a:ext cx="576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三轴视觉系统展示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8640000" y="180000"/>
            <a:ext cx="10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5F646B"/>
                </a:solidFill>
                <a:latin typeface="Menlo"/>
                <a:ea typeface="Menlo"/>
              </a:rPr>
              <a:t>03 / 03</a:t>
            </a:r>
          </a:p>
        </p:txBody>
      </p:sp>
      <p:sp>
        <p:nvSpPr>
          <p:cNvPr id="100017" name="TextBox 3"/>
          <p:cNvSpPr/>
          <p:nvPr/>
        </p:nvSpPr>
        <p:spPr>
          <a:xfrm xmlns:a="http://schemas.openxmlformats.org/drawingml/2006/main">
            <a:off x="360000" y="486000"/>
            <a:ext cx="792000" cy="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FA7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018" name="TextBox 4"/>
          <p:cNvSpPr txBox="1"/>
          <p:nvPr/>
        </p:nvSpPr>
        <p:spPr>
          <a:xfrm xmlns:a="http://schemas.openxmlformats.org/drawingml/2006/main">
            <a:off x="576000" y="756000"/>
            <a:ext cx="8640000" cy="63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111111"/>
                </a:solidFill>
                <a:latin typeface="Helvetica"/>
                <a:ea typeface="PingFang SC"/>
              </a:rPr>
              <a:t>六种设计语言当前能力</a:t>
            </a:r>
          </a:p>
        </p:txBody>
      </p:sp>
      <p:graphicFrame>
        <p:nvGraphicFramePr>
          <p:cNvPr id="100019" name="Table 1"/>
          <p:cNvGraphicFramePr/>
          <p:nvPr/>
        </p:nvGraphicFramePr>
        <p:xfrm>
          <a:off xmlns:a="http://schemas.openxmlformats.org/drawingml/2006/main" x="576000" y="1440000"/>
          <a:ext xmlns:a="http://schemas.openxmlformats.org/drawingml/2006/main" cx="8640000" cy="3456000"/>
        </p:xfrm>
        <a:graphic xmlns:a="http://schemas.openxmlformats.org/drawingml/2006/main"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1872000"/>
                <a:gridCol w="3384000"/>
                <a:gridCol w="3384000"/>
              </a:tblGrid>
              <a:tr h="493714">
                <a:tc>
                  <a:txBody>
                    <a:bodyPr wrap="square"/>
                    <a:lstStyle/>
                    <a:p>
                      <a:r>
                        <a:rPr lang="en-US" sz="1100" b="1">
                          <a:solidFill>
                            <a:srgbClr val="FFFFFF"/>
                          </a:solidFill>
                          <a:latin typeface="Menlo"/>
                          <a:ea typeface="Menlo"/>
                        </a:rPr>
                        <a:t>方向</a:t>
                      </a:r>
                    </a:p>
                  </a:txBody>
                  <a:tcPr marL="57600" marR="57600" marT="57600" marB="57600">
                    <a:lnR>
                      <a:noFill/>
                    </a:lnR>
                    <a:lnT w="12700">
                      <a:solidFill>
                        <a:srgbClr val="111111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002FA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 b="1">
                          <a:solidFill>
                            <a:srgbClr val="FFFFFF"/>
                          </a:solidFill>
                          <a:latin typeface="Menlo"/>
                          <a:ea typeface="Menlo"/>
                        </a:rPr>
                        <a:t>状态</a:t>
                      </a:r>
                    </a:p>
                  </a:txBody>
                  <a:tcPr marL="57600" marR="57600" marT="57600" marB="57600">
                    <a:lnL>
                      <a:noFill/>
                    </a:lnL>
                    <a:lnR>
                      <a:noFill/>
                    </a:lnR>
                    <a:lnT w="12700">
                      <a:solidFill>
                        <a:srgbClr val="111111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002FA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 b="1">
                          <a:solidFill>
                            <a:srgbClr val="FFFFFF"/>
                          </a:solidFill>
                          <a:latin typeface="Menlo"/>
                          <a:ea typeface="Menlo"/>
                        </a:rPr>
                        <a:t>当前能力</a:t>
                      </a:r>
                    </a:p>
                  </a:txBody>
                  <a:tcPr marL="57600" marR="57600" marT="57600" marB="57600">
                    <a:lnL>
                      <a:noFill/>
                    </a:lnL>
                    <a:lnT w="12700">
                      <a:solidFill>
                        <a:srgbClr val="111111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002FA7"/>
                    </a:solidFill>
                  </a:tcPr>
                </a:tc>
              </a:tr>
              <a:tr h="493714"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Swiss</a:t>
                      </a:r>
                    </a:p>
                  </a:txBody>
                  <a:tcPr marL="50400" marR="50400" marT="50400" marB="50400"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可组合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网格与层级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714"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Magazine</a:t>
                      </a:r>
                    </a:p>
                  </a:txBody>
                  <a:tcPr marL="50400" marR="50400" marT="50400" marB="50400"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可组合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编辑栅格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714"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Cobalt</a:t>
                      </a:r>
                    </a:p>
                  </a:txBody>
                  <a:tcPr marL="50400" marR="50400" marT="50400" marB="50400"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可组合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产品模块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714"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Clay</a:t>
                      </a:r>
                    </a:p>
                  </a:txBody>
                  <a:tcPr marL="50400" marR="50400" marT="50400" marB="50400"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可组合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温暖叙事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714"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Forest</a:t>
                      </a:r>
                    </a:p>
                  </a:txBody>
                  <a:tcPr marL="50400" marR="50400" marT="50400" marB="50400"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可组合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研究层级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T w="6350">
                      <a:solidFill>
                        <a:srgbClr val="B8BBC0"/>
                      </a:solidFill>
                      <a:prstDash val="solid"/>
                    </a:lnT>
                    <a:lnB w="6350">
                      <a:solidFill>
                        <a:srgbClr val="B8BBC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93714"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Noir</a:t>
                      </a:r>
                    </a:p>
                  </a:txBody>
                  <a:tcPr marL="50400" marR="50400" marT="50400" marB="50400"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12700">
                      <a:solidFill>
                        <a:srgbClr val="11111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可组合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B8BBC0"/>
                      </a:solidFill>
                      <a:prstDash val="solid"/>
                    </a:lnT>
                    <a:lnB w="12700">
                      <a:solidFill>
                        <a:srgbClr val="11111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lang="en-US" sz="1100">
                          <a:solidFill>
                            <a:srgbClr val="111111"/>
                          </a:solidFill>
                          <a:latin typeface="Helvetica"/>
                          <a:ea typeface="Helvetica"/>
                        </a:rPr>
                        <a:t>强声明</a:t>
                      </a:r>
                    </a:p>
                  </a:txBody>
                  <a:tcPr marL="50400" marR="50400" marT="50400" marB="50400">
                    <a:lnL>
                      <a:noFill/>
                    </a:lnL>
                    <a:lnT w="6350">
                      <a:solidFill>
                        <a:srgbClr val="B8BBC0"/>
                      </a:solidFill>
                      <a:prstDash val="solid"/>
                    </a:lnT>
                    <a:lnB w="12700">
                      <a:solidFill>
                        <a:srgbClr val="11111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20" name="TextBox 5"/>
          <p:cNvSpPr txBox="1"/>
          <p:nvPr/>
        </p:nvSpPr>
        <p:spPr>
          <a:xfrm xmlns:a="http://schemas.openxmlformats.org/drawingml/2006/main">
            <a:off x="576000" y="5076000"/>
            <a:ext cx="7200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28800" tIns="28800" rIns="28800" bIns="28800">
            <a:noAutofit/>
          </a:bodyPr>
          <a:lstStyle xmlns:a="http://schemas.openxmlformats.org/drawingml/2006/main"/>
          <a:p xmlns:a="http://schemas.openxmlformats.org/drawingml/2006/main">
            <a:r>
              <a:rPr lang="en-US" sz="800">
                <a:solidFill>
                  <a:srgbClr val="5F646B"/>
                </a:solidFill>
                <a:latin typeface="Menlo"/>
                <a:ea typeface="Menlo"/>
              </a:rPr>
              <a:t>当前 507-ppt registry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等线"/>
        <a:cs typeface=""/>
      </a:majorFont>
      <a:minorFont>
        <a:latin typeface="Calibri"/>
        <a:ea typeface="等线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OfficeCLI/1.0.149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2026-09-26T02:41:13Z</dcterms:created>
  <cp:lastModifiedBy>OfficeCLI</cp:lastModifiedBy>
  <dcterms:modified xsi:type="dcterms:W3CDTF">2026-09-26T02:41:13Z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1.0.149</vt:lpwstr>
  </op:property>
  <op:property fmtid="{D5CDD505-2E9C-101B-9397-08002B2CF9AE}" pid="3" name="OfficeCLI.LastModified">
    <vt:lpwstr xmlns:vt="http://schemas.openxmlformats.org/officeDocument/2006/docPropsVTypes">2026-09-26T02:41:20Z</vt:lpwstr>
  </op:property>
</op:Properties>
</file>