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svg" ContentType="image/svg+xml"/>
  <Default Extension="png" ContentType="image/png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5b04956b5b1f46e5" /><Relationship Type="http://schemas.openxmlformats.org/package/2006/relationships/metadata/core-properties" Target="/docProps/core.xml" Id="R2f0c9e714f4e4ca0" /><Relationship Type="http://schemas.openxmlformats.org/officeDocument/2006/relationships/extended-properties" Target="/docProps/app.xml" Id="R0450465282894281" /><Relationship Type="http://schemas.openxmlformats.org/officeDocument/2006/relationships/custom-properties" Target="/docProps/custom.xml" Id="R7ea7b340ea154396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e5fc9ce7f6de4a0c"/>
  </p:notesMasterIdLst>
  <p:sldIdLst>
    <p:sldId id="256" r:id="R96c5568db5d34616"/>
    <p:sldId id="257" r:id="R24c64d9fa44348a6"/>
    <p:sldId id="258" r:id="Rafd5f79baa7f4998"/>
    <p:sldId id="259" r:id="R047bcc192993431e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96c5568db5d34616" /><Relationship Type="http://schemas.openxmlformats.org/officeDocument/2006/relationships/slide" Target="/ppt/slides/slide2.xml" Id="R24c64d9fa44348a6" /><Relationship Type="http://schemas.openxmlformats.org/officeDocument/2006/relationships/slide" Target="/ppt/slides/slide3.xml" Id="Rafd5f79baa7f4998" /><Relationship Type="http://schemas.openxmlformats.org/officeDocument/2006/relationships/slide" Target="/ppt/slides/slide4.xml" Id="R047bcc192993431e" /><Relationship Type="http://schemas.openxmlformats.org/officeDocument/2006/relationships/notesMaster" Target="/ppt/notesMasters/notesMaster1.xml" Id="Re5fc9ce7f6de4a0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0bc6ce09410e4036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等线"/>
        <a:cs typeface=""/>
      </a:majorFont>
      <a:minorFont>
        <a:latin typeface="Calibri"/>
        <a:ea typeface="等线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f42bd4af0c484442" /><Relationship Type="http://schemas.openxmlformats.org/officeDocument/2006/relationships/slide" Target="/ppt/slides/slide1.xml" Id="R598c51749eee4a6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d49061cd19bf4160" /><Relationship Type="http://schemas.openxmlformats.org/officeDocument/2006/relationships/slide" Target="/ppt/slides/slide2.xml" Id="R4c39d36c214845f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78d1ac74f7b947b6" /><Relationship Type="http://schemas.openxmlformats.org/officeDocument/2006/relationships/slide" Target="/ppt/slides/slide3.xml" Id="R54f477b0ee8948c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975a0808165043e6" /><Relationship Type="http://schemas.openxmlformats.org/officeDocument/2006/relationships/slide" Target="/ppt/slides/slide4.xml" Id="R0863fcf4b8ac489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zh-CN"/>
              <a:t>先说明今天不讲工具清单，而是讲如何让第一版变成可继续协作的对象。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zh-CN"/>
              <a:t>强调执行环境不是聊天框的装饰，而是让结果能被检查和继续修改的地方。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zh-CN"/>
              <a:t>让听众把意图、责任、验收与 AI 的生成执行分开。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zh-CN"/>
              <a:t>用这句收束：第一版的价值是形成可评审对象，而不是跳过人的判断。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7bd4ea3a87424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868d19e57648d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b872fd557cc49c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4ddd004bd9406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c23647827e9410b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6e82fed220564f2f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2fcb2807d54d5a" /><Relationship Type="http://schemas.openxmlformats.org/officeDocument/2006/relationships/notesSlide" Target="/ppt/notesSlides/notesSlide1.xml" Id="R3a59d0930ccc457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41691554bf4b99" /><Relationship Type="http://schemas.openxmlformats.org/officeDocument/2006/relationships/image" Target="/ppt/media/image.svg" Id="Rd8a43be113fc440c" /><Relationship Type="http://schemas.openxmlformats.org/officeDocument/2006/relationships/image" Target="/ppt/media/image.png" Id="R45d15599d5084d95" /><Relationship Type="http://schemas.openxmlformats.org/officeDocument/2006/relationships/notesSlide" Target="/ppt/notesSlides/notesSlide2.xml" Id="R692e050cb20146d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6d1de093c247dd" /><Relationship Type="http://schemas.openxmlformats.org/officeDocument/2006/relationships/notesSlide" Target="/ppt/notesSlides/notesSlide3.xml" Id="R17cc9eb595134b8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fb8418b34d4092" /><Relationship Type="http://schemas.openxmlformats.org/officeDocument/2006/relationships/notesSlide" Target="/ppt/notesSlides/notesSlide4.xml" Id="R258eb7a2fad2409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0E6D2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360000" y="180000"/>
            <a:ext cx="576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67594D"/>
                </a:solidFill>
                <a:latin typeface="Menlo"/>
                <a:ea typeface="Menlo"/>
              </a:rPr>
              <a:t>从会用到会协作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8640000" y="180000"/>
            <a:ext cx="108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67594D"/>
                </a:solidFill>
                <a:latin typeface="Menlo"/>
                <a:ea typeface="Menlo"/>
              </a:rPr>
              <a:t>01 / 04</a:t>
            </a:r>
          </a:p>
        </p:txBody>
      </p:sp>
      <p:sp>
        <p:nvSpPr>
          <p:cNvPr id="100002" name="TextBox 3"/>
          <p:cNvSpPr/>
          <p:nvPr/>
        </p:nvSpPr>
        <p:spPr>
          <a:xfrm xmlns:a="http://schemas.openxmlformats.org/drawingml/2006/main">
            <a:off x="360000" y="486000"/>
            <a:ext cx="792000" cy="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4F3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360000" y="1152000"/>
            <a:ext cx="4320000" cy="37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9C4F3B"/>
                </a:solidFill>
                <a:latin typeface="Menlo"/>
                <a:ea typeface="Menlo"/>
              </a:rPr>
              <a:t>关于协作，先说一件最重要的事</a:t>
            </a:r>
          </a:p>
        </p:txBody>
      </p:sp>
      <p:sp>
        <p:nvSpPr>
          <p:cNvPr id="100004" name="TextBox 5"/>
          <p:cNvSpPr txBox="1"/>
          <p:nvPr/>
        </p:nvSpPr>
        <p:spPr>
          <a:xfrm xmlns:a="http://schemas.openxmlformats.org/drawingml/2006/main">
            <a:off x="360000" y="1584000"/>
            <a:ext cx="8820000" cy="109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4400" b="1">
                <a:solidFill>
                  <a:srgbClr val="1F1A14"/>
                </a:solidFill>
                <a:latin typeface="Georgia"/>
                <a:ea typeface="Songti SC"/>
              </a:rPr>
              <a:t>从会用到会协作</a:t>
            </a:r>
          </a:p>
        </p:txBody>
      </p:sp>
      <p:sp>
        <p:nvSpPr>
          <p:cNvPr id="100005" name="TextBox 6"/>
          <p:cNvSpPr txBox="1"/>
          <p:nvPr/>
        </p:nvSpPr>
        <p:spPr>
          <a:xfrm xmlns:a="http://schemas.openxmlformats.org/drawingml/2006/main">
            <a:off x="360000" y="2880000"/>
            <a:ext cx="6840000" cy="66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2100">
                <a:solidFill>
                  <a:srgbClr val="67594D"/>
                </a:solidFill>
                <a:latin typeface="Helvetica"/>
                <a:ea typeface="PingFang SC"/>
              </a:rPr>
              <a:t>让 AI 帮你把想法做出来</a:t>
            </a:r>
          </a:p>
        </p:txBody>
      </p:sp>
      <p:sp>
        <p:nvSpPr>
          <p:cNvPr id="100006" name="TextBox 7"/>
          <p:cNvSpPr txBox="1"/>
          <p:nvPr/>
        </p:nvSpPr>
        <p:spPr>
          <a:xfrm xmlns:a="http://schemas.openxmlformats.org/drawingml/2006/main">
            <a:off x="360000" y="5184000"/>
            <a:ext cx="540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67594D"/>
                </a:solidFill>
                <a:latin typeface="Menlo"/>
                <a:ea typeface="Menlo"/>
              </a:rPr>
              <a:t>20 分钟 · 公开示例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0E6D2"/>
        </a:solidFill>
      </p:bgPr>
    </p:bg>
    <p:spTree>
      <p:nvGrpSpPr>
        <p:cNvPr id="1" name=""/>
        <p:cNvGrpSpPr/>
        <p:nvPr/>
      </p:nvGrpSpPr>
      <p:grpSpPr/>
      <p:sp>
        <p:nvSpPr>
          <p:cNvPr id="100007" name="TextBox 1"/>
          <p:cNvSpPr txBox="1"/>
          <p:nvPr/>
        </p:nvSpPr>
        <p:spPr>
          <a:xfrm xmlns:a="http://schemas.openxmlformats.org/drawingml/2006/main">
            <a:off x="360000" y="180000"/>
            <a:ext cx="576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67594D"/>
                </a:solidFill>
                <a:latin typeface="Menlo"/>
                <a:ea typeface="Menlo"/>
              </a:rPr>
              <a:t>从会用到会协作</a:t>
            </a:r>
          </a:p>
        </p:txBody>
      </p:sp>
      <p:sp>
        <p:nvSpPr>
          <p:cNvPr id="100008" name="TextBox 2"/>
          <p:cNvSpPr txBox="1"/>
          <p:nvPr/>
        </p:nvSpPr>
        <p:spPr>
          <a:xfrm xmlns:a="http://schemas.openxmlformats.org/drawingml/2006/main">
            <a:off x="8640000" y="180000"/>
            <a:ext cx="108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67594D"/>
                </a:solidFill>
                <a:latin typeface="Menlo"/>
                <a:ea typeface="Menlo"/>
              </a:rPr>
              <a:t>02 / 04</a:t>
            </a:r>
          </a:p>
        </p:txBody>
      </p:sp>
      <p:sp>
        <p:nvSpPr>
          <p:cNvPr id="100009" name="TextBox 3"/>
          <p:cNvSpPr/>
          <p:nvPr/>
        </p:nvSpPr>
        <p:spPr>
          <a:xfrm xmlns:a="http://schemas.openxmlformats.org/drawingml/2006/main">
            <a:off x="360000" y="486000"/>
            <a:ext cx="792000" cy="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4F3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0" name="TextBox 4"/>
          <p:cNvSpPr txBox="1"/>
          <p:nvPr/>
        </p:nvSpPr>
        <p:spPr>
          <a:xfrm xmlns:a="http://schemas.openxmlformats.org/drawingml/2006/main">
            <a:off x="360000" y="810000"/>
            <a:ext cx="3420000" cy="3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C4F3B"/>
                </a:solidFill>
                <a:latin typeface="Menlo"/>
                <a:ea typeface="Menlo"/>
              </a:rPr>
              <a:t>执行环境</a:t>
            </a:r>
          </a:p>
        </p:txBody>
      </p:sp>
      <p:sp>
        <p:nvSpPr>
          <p:cNvPr id="100011" name="TextBox 5"/>
          <p:cNvSpPr txBox="1"/>
          <p:nvPr/>
        </p:nvSpPr>
        <p:spPr>
          <a:xfrm xmlns:a="http://schemas.openxmlformats.org/drawingml/2006/main">
            <a:off x="360000" y="1080000"/>
            <a:ext cx="3420000" cy="70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F1A14"/>
                </a:solidFill>
                <a:latin typeface="Georgia"/>
                <a:ea typeface="Songti SC"/>
              </a:rPr>
              <a:t>能动手的地方</a:t>
            </a:r>
          </a:p>
        </p:txBody>
      </p:sp>
      <p:sp>
        <p:nvSpPr>
          <p:cNvPr id="100012" name="TextBox 6"/>
          <p:cNvSpPr txBox="1"/>
          <p:nvPr/>
        </p:nvSpPr>
        <p:spPr>
          <a:xfrm xmlns:a="http://schemas.openxmlformats.org/drawingml/2006/main">
            <a:off x="360000" y="1908000"/>
            <a:ext cx="3420000" cy="12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67594D"/>
                </a:solidFill>
                <a:latin typeface="Helvetica"/>
                <a:ea typeface="PingFang SC"/>
              </a:rPr>
              <a:t>能看见项目、改动文件、运行结果并回看反馈，AI 才能从顾问进入施工现场。</a:t>
            </a:r>
          </a:p>
        </p:txBody>
      </p:sp>
      <p:pic>
        <p:nvPicPr>
          <p:cNvPr id="100013" name="Picture 1" descr="包含文件、编辑器和预览区域的抽象工作台示意图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d15599d5084d95">
            <a:extLst>
              <a:ext uri="{96DAC541-7B7A-43D3-8B79-37D633B846F1}">
                <asvg:svgBlip xmlns:asvg="http://schemas.microsoft.com/office/drawing/2016/SVG/main" r:embed="Rd8a43be113fc440c"/>
              </a:ext>
            </a:extLst>
          </a:blip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140000" y="1195877"/>
            <a:ext cx="5220000" cy="2936250"/>
          </a:xfrm>
          <a:prstGeom xmlns:a="http://schemas.openxmlformats.org/drawingml/2006/main" prst="rect">
            <a:avLst/>
          </a:prstGeom>
        </p:spPr>
      </p:pic>
      <p:sp>
        <p:nvSpPr>
          <p:cNvPr id="100014" name="TextBox 7"/>
          <p:cNvSpPr txBox="1"/>
          <p:nvPr/>
        </p:nvSpPr>
        <p:spPr>
          <a:xfrm xmlns:a="http://schemas.openxmlformats.org/drawingml/2006/main">
            <a:off x="4140000" y="4500000"/>
            <a:ext cx="5220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1000">
                <a:solidFill>
                  <a:srgbClr val="67594D"/>
                </a:solidFill>
                <a:latin typeface="Menlo"/>
                <a:ea typeface="Menlo"/>
              </a:rPr>
              <a:t>文件 / 编辑 / 预览同处一屏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0E6D2"/>
        </a:solidFill>
      </p:bgPr>
    </p:bg>
    <p:spTree>
      <p:nvGrpSpPr>
        <p:cNvPr id="1" name=""/>
        <p:cNvGrpSpPr/>
        <p:nvPr/>
      </p:nvGrpSpPr>
      <p:grpSpPr/>
      <p:sp>
        <p:nvSpPr>
          <p:cNvPr id="100015" name="TextBox 1"/>
          <p:cNvSpPr txBox="1"/>
          <p:nvPr/>
        </p:nvSpPr>
        <p:spPr>
          <a:xfrm xmlns:a="http://schemas.openxmlformats.org/drawingml/2006/main">
            <a:off x="360000" y="180000"/>
            <a:ext cx="576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67594D"/>
                </a:solidFill>
                <a:latin typeface="Menlo"/>
                <a:ea typeface="Menlo"/>
              </a:rPr>
              <a:t>从会用到会协作</a:t>
            </a:r>
          </a:p>
        </p:txBody>
      </p:sp>
      <p:sp>
        <p:nvSpPr>
          <p:cNvPr id="100016" name="TextBox 2"/>
          <p:cNvSpPr txBox="1"/>
          <p:nvPr/>
        </p:nvSpPr>
        <p:spPr>
          <a:xfrm xmlns:a="http://schemas.openxmlformats.org/drawingml/2006/main">
            <a:off x="8640000" y="180000"/>
            <a:ext cx="108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67594D"/>
                </a:solidFill>
                <a:latin typeface="Menlo"/>
                <a:ea typeface="Menlo"/>
              </a:rPr>
              <a:t>03 / 04</a:t>
            </a:r>
          </a:p>
        </p:txBody>
      </p:sp>
      <p:sp>
        <p:nvSpPr>
          <p:cNvPr id="100017" name="TextBox 3"/>
          <p:cNvSpPr/>
          <p:nvPr/>
        </p:nvSpPr>
        <p:spPr>
          <a:xfrm xmlns:a="http://schemas.openxmlformats.org/drawingml/2006/main">
            <a:off x="360000" y="486000"/>
            <a:ext cx="792000" cy="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4F3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8" name="TextBox 4"/>
          <p:cNvSpPr txBox="1"/>
          <p:nvPr/>
        </p:nvSpPr>
        <p:spPr>
          <a:xfrm xmlns:a="http://schemas.openxmlformats.org/drawingml/2006/main">
            <a:off x="360000" y="792000"/>
            <a:ext cx="8640000" cy="59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1F1A14"/>
                </a:solidFill>
                <a:latin typeface="Georgia"/>
                <a:ea typeface="Songti SC"/>
              </a:rPr>
              <a:t>三件 AI 不能替你拥有的事</a:t>
            </a:r>
          </a:p>
        </p:txBody>
      </p:sp>
      <p:sp>
        <p:nvSpPr>
          <p:cNvPr id="100019" name="TextBox 5"/>
          <p:cNvSpPr/>
          <p:nvPr/>
        </p:nvSpPr>
        <p:spPr>
          <a:xfrm xmlns:a="http://schemas.openxmlformats.org/drawingml/2006/main">
            <a:off x="360000" y="1620000"/>
            <a:ext cx="2724001" cy="264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0E4"/>
          </a:solidFill>
          <a:ln xmlns:a="http://schemas.openxmlformats.org/drawingml/2006/main" w="9525">
            <a:solidFill>
              <a:srgbClr val="B9A98E"/>
            </a:solidFill>
          </a:ln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endParaRPr lang="en-US" sz="100">
              <a:solidFill>
                <a:srgbClr val="1F1A14"/>
              </a:solidFill>
              <a:latin typeface="Helvetica"/>
              <a:ea typeface="PingFang SC"/>
            </a:endParaRPr>
          </a:p>
        </p:txBody>
      </p:sp>
      <p:sp>
        <p:nvSpPr>
          <p:cNvPr id="100020" name="TextBox 6"/>
          <p:cNvSpPr txBox="1"/>
          <p:nvPr/>
        </p:nvSpPr>
        <p:spPr>
          <a:xfrm xmlns:a="http://schemas.openxmlformats.org/drawingml/2006/main">
            <a:off x="360000" y="1872000"/>
            <a:ext cx="2724001" cy="5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2300" b="1">
                <a:solidFill>
                  <a:srgbClr val="9C4F3B"/>
                </a:solidFill>
                <a:latin typeface="Georgia"/>
                <a:ea typeface="Songti SC"/>
              </a:rPr>
              <a:t>意图</a:t>
            </a:r>
          </a:p>
        </p:txBody>
      </p:sp>
      <p:sp>
        <p:nvSpPr>
          <p:cNvPr id="100021" name="TextBox 7"/>
          <p:cNvSpPr txBox="1"/>
          <p:nvPr/>
        </p:nvSpPr>
        <p:spPr>
          <a:xfrm xmlns:a="http://schemas.openxmlformats.org/drawingml/2006/main">
            <a:off x="360000" y="2556000"/>
            <a:ext cx="2724001" cy="11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1F1A14"/>
                </a:solidFill>
                <a:latin typeface="Helvetica"/>
                <a:ea typeface="PingFang SC"/>
              </a:rPr>
              <a:t>你希望这次成果服务谁、解决什么。</a:t>
            </a:r>
          </a:p>
        </p:txBody>
      </p:sp>
      <p:sp>
        <p:nvSpPr>
          <p:cNvPr id="100022" name="TextBox 8"/>
          <p:cNvSpPr/>
          <p:nvPr/>
        </p:nvSpPr>
        <p:spPr>
          <a:xfrm xmlns:a="http://schemas.openxmlformats.org/drawingml/2006/main">
            <a:off x="3318001" y="1620000"/>
            <a:ext cx="2724001" cy="264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0E4"/>
          </a:solidFill>
          <a:ln xmlns:a="http://schemas.openxmlformats.org/drawingml/2006/main" w="9525">
            <a:solidFill>
              <a:srgbClr val="B9A98E"/>
            </a:solidFill>
          </a:ln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endParaRPr lang="en-US" sz="100">
              <a:solidFill>
                <a:srgbClr val="1F1A14"/>
              </a:solidFill>
              <a:latin typeface="Helvetica"/>
              <a:ea typeface="PingFang SC"/>
            </a:endParaRPr>
          </a:p>
        </p:txBody>
      </p:sp>
      <p:sp>
        <p:nvSpPr>
          <p:cNvPr id="100023" name="TextBox 9"/>
          <p:cNvSpPr txBox="1"/>
          <p:nvPr/>
        </p:nvSpPr>
        <p:spPr>
          <a:xfrm xmlns:a="http://schemas.openxmlformats.org/drawingml/2006/main">
            <a:off x="3318001" y="1872000"/>
            <a:ext cx="2724001" cy="5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2300" b="1">
                <a:solidFill>
                  <a:srgbClr val="9C4F3B"/>
                </a:solidFill>
                <a:latin typeface="Georgia"/>
                <a:ea typeface="Songti SC"/>
              </a:rPr>
              <a:t>责任</a:t>
            </a:r>
          </a:p>
        </p:txBody>
      </p:sp>
      <p:sp>
        <p:nvSpPr>
          <p:cNvPr id="100024" name="TextBox 10"/>
          <p:cNvSpPr txBox="1"/>
          <p:nvPr/>
        </p:nvSpPr>
        <p:spPr>
          <a:xfrm xmlns:a="http://schemas.openxmlformats.org/drawingml/2006/main">
            <a:off x="3318001" y="2556000"/>
            <a:ext cx="2724001" cy="11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1F1A14"/>
                </a:solidFill>
                <a:latin typeface="Helvetica"/>
                <a:ea typeface="PingFang SC"/>
              </a:rPr>
              <a:t>哪些边界不能越过、谁负责拍板。</a:t>
            </a:r>
          </a:p>
        </p:txBody>
      </p:sp>
      <p:sp>
        <p:nvSpPr>
          <p:cNvPr id="100025" name="TextBox 11"/>
          <p:cNvSpPr/>
          <p:nvPr/>
        </p:nvSpPr>
        <p:spPr>
          <a:xfrm xmlns:a="http://schemas.openxmlformats.org/drawingml/2006/main">
            <a:off x="6275988" y="1620000"/>
            <a:ext cx="2724001" cy="264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0E4"/>
          </a:solidFill>
          <a:ln xmlns:a="http://schemas.openxmlformats.org/drawingml/2006/main" w="9525">
            <a:solidFill>
              <a:srgbClr val="B9A98E"/>
            </a:solidFill>
          </a:ln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endParaRPr lang="en-US" sz="100">
              <a:solidFill>
                <a:srgbClr val="1F1A14"/>
              </a:solidFill>
              <a:latin typeface="Helvetica"/>
              <a:ea typeface="PingFang SC"/>
            </a:endParaRPr>
          </a:p>
        </p:txBody>
      </p:sp>
      <p:sp>
        <p:nvSpPr>
          <p:cNvPr id="100026" name="TextBox 12"/>
          <p:cNvSpPr txBox="1"/>
          <p:nvPr/>
        </p:nvSpPr>
        <p:spPr>
          <a:xfrm xmlns:a="http://schemas.openxmlformats.org/drawingml/2006/main">
            <a:off x="6275988" y="1872000"/>
            <a:ext cx="2724001" cy="5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2300" b="1">
                <a:solidFill>
                  <a:srgbClr val="9C4F3B"/>
                </a:solidFill>
                <a:latin typeface="Georgia"/>
                <a:ea typeface="Songti SC"/>
              </a:rPr>
              <a:t>验收</a:t>
            </a:r>
          </a:p>
        </p:txBody>
      </p:sp>
      <p:sp>
        <p:nvSpPr>
          <p:cNvPr id="100027" name="TextBox 13"/>
          <p:cNvSpPr txBox="1"/>
          <p:nvPr/>
        </p:nvSpPr>
        <p:spPr>
          <a:xfrm xmlns:a="http://schemas.openxmlformats.org/drawingml/2006/main">
            <a:off x="6275988" y="2556000"/>
            <a:ext cx="2724001" cy="11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1F1A14"/>
                </a:solidFill>
                <a:latin typeface="Helvetica"/>
                <a:ea typeface="PingFang SC"/>
              </a:rPr>
              <a:t>什么结果才算真的能交付。</a:t>
            </a:r>
          </a:p>
        </p:txBody>
      </p:sp>
      <p:sp>
        <p:nvSpPr>
          <p:cNvPr id="100028" name="TextBox 14"/>
          <p:cNvSpPr txBox="1"/>
          <p:nvPr/>
        </p:nvSpPr>
        <p:spPr>
          <a:xfrm xmlns:a="http://schemas.openxmlformats.org/drawingml/2006/main">
            <a:off x="360000" y="5184000"/>
            <a:ext cx="540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67594D"/>
                </a:solidFill>
                <a:latin typeface="Menlo"/>
                <a:ea typeface="Menlo"/>
              </a:rPr>
              <a:t>AI 负责生成、尝试、执行；人负责方向、边界与完成。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0E6D2"/>
        </a:solidFill>
      </p:bgPr>
    </p:bg>
    <p:spTree>
      <p:nvGrpSpPr>
        <p:cNvPr id="1" name=""/>
        <p:cNvGrpSpPr/>
        <p:nvPr/>
      </p:nvGrpSpPr>
      <p:grpSpPr/>
      <p:sp>
        <p:nvSpPr>
          <p:cNvPr id="100029" name="TextBox 1"/>
          <p:cNvSpPr txBox="1"/>
          <p:nvPr/>
        </p:nvSpPr>
        <p:spPr>
          <a:xfrm xmlns:a="http://schemas.openxmlformats.org/drawingml/2006/main">
            <a:off x="360000" y="180000"/>
            <a:ext cx="576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67594D"/>
                </a:solidFill>
                <a:latin typeface="Menlo"/>
                <a:ea typeface="Menlo"/>
              </a:rPr>
              <a:t>从会用到会协作</a:t>
            </a:r>
          </a:p>
        </p:txBody>
      </p:sp>
      <p:sp>
        <p:nvSpPr>
          <p:cNvPr id="100030" name="TextBox 2"/>
          <p:cNvSpPr txBox="1"/>
          <p:nvPr/>
        </p:nvSpPr>
        <p:spPr>
          <a:xfrm xmlns:a="http://schemas.openxmlformats.org/drawingml/2006/main">
            <a:off x="8640000" y="180000"/>
            <a:ext cx="108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67594D"/>
                </a:solidFill>
                <a:latin typeface="Menlo"/>
                <a:ea typeface="Menlo"/>
              </a:rPr>
              <a:t>04 / 04</a:t>
            </a:r>
          </a:p>
        </p:txBody>
      </p:sp>
      <p:sp>
        <p:nvSpPr>
          <p:cNvPr id="100031" name="TextBox 3"/>
          <p:cNvSpPr/>
          <p:nvPr/>
        </p:nvSpPr>
        <p:spPr>
          <a:xfrm xmlns:a="http://schemas.openxmlformats.org/drawingml/2006/main">
            <a:off x="360000" y="486000"/>
            <a:ext cx="792000" cy="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4F3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32" name="TextBox 4"/>
          <p:cNvSpPr txBox="1"/>
          <p:nvPr/>
        </p:nvSpPr>
        <p:spPr>
          <a:xfrm xmlns:a="http://schemas.openxmlformats.org/drawingml/2006/main">
            <a:off x="360000" y="540000"/>
            <a:ext cx="1080000" cy="12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6200">
                <a:solidFill>
                  <a:srgbClr val="9C4F3B"/>
                </a:solidFill>
                <a:latin typeface="Georgia"/>
                <a:ea typeface="Songti SC"/>
              </a:rPr>
              <a:t>“</a:t>
            </a:r>
          </a:p>
        </p:txBody>
      </p:sp>
      <p:sp>
        <p:nvSpPr>
          <p:cNvPr id="100033" name="TextBox 5"/>
          <p:cNvSpPr txBox="1"/>
          <p:nvPr/>
        </p:nvSpPr>
        <p:spPr>
          <a:xfrm xmlns:a="http://schemas.openxmlformats.org/drawingml/2006/main">
            <a:off x="864000" y="1800000"/>
            <a:ext cx="8280000" cy="174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3500" b="1">
                <a:solidFill>
                  <a:srgbClr val="1F1A14"/>
                </a:solidFill>
                <a:latin typeface="Georgia"/>
                <a:ea typeface="Songti SC"/>
              </a:rPr>
              <a:t>它的第一版，是给你改的，不是给你用的。</a:t>
            </a:r>
          </a:p>
        </p:txBody>
      </p:sp>
      <p:sp>
        <p:nvSpPr>
          <p:cNvPr id="100034" name="TextBox 6"/>
          <p:cNvSpPr txBox="1"/>
          <p:nvPr/>
        </p:nvSpPr>
        <p:spPr>
          <a:xfrm xmlns:a="http://schemas.openxmlformats.org/drawingml/2006/main">
            <a:off x="864000" y="4176000"/>
            <a:ext cx="4320000" cy="34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C4F3B"/>
                </a:solidFill>
                <a:latin typeface="Menlo"/>
                <a:ea typeface="Menlo"/>
              </a:rPr>
              <a:t>关于协作 · 第一节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等线"/>
        <a:cs typeface=""/>
      </a:majorFont>
      <a:minorFont>
        <a:latin typeface="Calibri"/>
        <a:ea typeface="等线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OfficeCLI/1.0.149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2026-09-26T03:50:15Z</dcterms:created>
  <cp:lastModifiedBy>OfficeCLI</cp:lastModifiedBy>
  <dcterms:modified xsi:type="dcterms:W3CDTF">2026-09-26T03:50:15Z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1.0.149</vt:lpwstr>
  </op:property>
  <op:property fmtid="{D5CDD505-2E9C-101B-9397-08002B2CF9AE}" pid="3" name="OfficeCLI.LastModified">
    <vt:lpwstr xmlns:vt="http://schemas.openxmlformats.org/officeDocument/2006/docPropsVTypes">2026-09-26T03:50:22Z</vt:lpwstr>
  </op:property>
</op:Properties>
</file>